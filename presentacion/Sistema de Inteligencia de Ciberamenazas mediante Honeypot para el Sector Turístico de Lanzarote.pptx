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5143500" cy="9144000"/>
  <p:embeddedFontLst>
    <p:embeddedFont>
      <p:font typeface="Fraunces"/>
      <p:regular r:id="rId16"/>
      <p:bold r:id="rId17"/>
      <p:italic r:id="rId18"/>
      <p:boldItalic r:id="rId19"/>
    </p:embeddedFont>
    <p:embeddedFont>
      <p:font typeface="Fraunces Medium"/>
      <p:regular r:id="rId20"/>
      <p:bold r:id="rId21"/>
      <p:italic r:id="rId22"/>
      <p:boldItalic r:id="rId23"/>
    </p:embeddedFont>
    <p:embeddedFont>
      <p:font typeface="Epilogue"/>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i3xfSGShQ2G1se0+LBgiAtuXLj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FrauncesMedium-regular.fntdata"/><Relationship Id="rId22" Type="http://schemas.openxmlformats.org/officeDocument/2006/relationships/font" Target="fonts/FrauncesMedium-italic.fntdata"/><Relationship Id="rId21" Type="http://schemas.openxmlformats.org/officeDocument/2006/relationships/font" Target="fonts/FrauncesMedium-bold.fntdata"/><Relationship Id="rId24" Type="http://schemas.openxmlformats.org/officeDocument/2006/relationships/font" Target="fonts/Epilogue-regular.fntdata"/><Relationship Id="rId23" Type="http://schemas.openxmlformats.org/officeDocument/2006/relationships/font" Target="fonts/FrauncesMedium-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Epilogue-italic.fntdata"/><Relationship Id="rId25" Type="http://schemas.openxmlformats.org/officeDocument/2006/relationships/font" Target="fonts/Epilogue-bold.fntdata"/><Relationship Id="rId28" Type="http://customschemas.google.com/relationships/presentationmetadata" Target="metadata"/><Relationship Id="rId27" Type="http://schemas.openxmlformats.org/officeDocument/2006/relationships/font" Target="fonts/Epilogue-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Fraunces-bold.fntdata"/><Relationship Id="rId16" Type="http://schemas.openxmlformats.org/officeDocument/2006/relationships/font" Target="fonts/Fraunces-regular.fntdata"/><Relationship Id="rId19" Type="http://schemas.openxmlformats.org/officeDocument/2006/relationships/font" Target="fonts/Fraunces-boldItalic.fntdata"/><Relationship Id="rId18" Type="http://schemas.openxmlformats.org/officeDocument/2006/relationships/font" Target="fonts/Fraunce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 name="Google Shape;5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 name="Google Shape;6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 name="Google Shape;8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13"/>
          <p:cNvSpPr/>
          <p:nvPr/>
        </p:nvSpPr>
        <p:spPr>
          <a:xfrm>
            <a:off x="0" y="0"/>
            <a:ext cx="9144000" cy="5143500"/>
          </a:xfrm>
          <a:prstGeom prst="rect">
            <a:avLst/>
          </a:prstGeom>
          <a:solidFill>
            <a:srgbClr val="A8A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3"/>
          <p:cNvSpPr/>
          <p:nvPr/>
        </p:nvSpPr>
        <p:spPr>
          <a:xfrm>
            <a:off x="0" y="0"/>
            <a:ext cx="9144000" cy="5143500"/>
          </a:xfrm>
          <a:prstGeom prst="rect">
            <a:avLst/>
          </a:prstGeom>
          <a:solidFill>
            <a:srgbClr val="080E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 name="Google Shape;13;p13">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14"/>
          <p:cNvSpPr/>
          <p:nvPr/>
        </p:nvSpPr>
        <p:spPr>
          <a:xfrm>
            <a:off x="0" y="0"/>
            <a:ext cx="9144000" cy="5143500"/>
          </a:xfrm>
          <a:prstGeom prst="rect">
            <a:avLst/>
          </a:prstGeom>
          <a:solidFill>
            <a:srgbClr val="A8A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4"/>
          <p:cNvSpPr/>
          <p:nvPr/>
        </p:nvSpPr>
        <p:spPr>
          <a:xfrm>
            <a:off x="0" y="0"/>
            <a:ext cx="9144000" cy="5143500"/>
          </a:xfrm>
          <a:prstGeom prst="rect">
            <a:avLst/>
          </a:prstGeom>
          <a:solidFill>
            <a:srgbClr val="080E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 name="Google Shape;17;p14">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15"/>
          <p:cNvSpPr/>
          <p:nvPr/>
        </p:nvSpPr>
        <p:spPr>
          <a:xfrm>
            <a:off x="0" y="0"/>
            <a:ext cx="9144000" cy="5143500"/>
          </a:xfrm>
          <a:prstGeom prst="rect">
            <a:avLst/>
          </a:prstGeom>
          <a:solidFill>
            <a:srgbClr val="A8A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5"/>
          <p:cNvSpPr/>
          <p:nvPr/>
        </p:nvSpPr>
        <p:spPr>
          <a:xfrm>
            <a:off x="0" y="0"/>
            <a:ext cx="9144000" cy="5143500"/>
          </a:xfrm>
          <a:prstGeom prst="rect">
            <a:avLst/>
          </a:prstGeom>
          <a:solidFill>
            <a:srgbClr val="080E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 name="Google Shape;21;p15">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16"/>
          <p:cNvSpPr/>
          <p:nvPr/>
        </p:nvSpPr>
        <p:spPr>
          <a:xfrm>
            <a:off x="0" y="0"/>
            <a:ext cx="9144000" cy="5143500"/>
          </a:xfrm>
          <a:prstGeom prst="rect">
            <a:avLst/>
          </a:prstGeom>
          <a:solidFill>
            <a:srgbClr val="A8A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16"/>
          <p:cNvSpPr/>
          <p:nvPr/>
        </p:nvSpPr>
        <p:spPr>
          <a:xfrm>
            <a:off x="0" y="0"/>
            <a:ext cx="9144000" cy="5143500"/>
          </a:xfrm>
          <a:prstGeom prst="rect">
            <a:avLst/>
          </a:prstGeom>
          <a:solidFill>
            <a:srgbClr val="080E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 name="Google Shape;25;p16">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17"/>
          <p:cNvSpPr/>
          <p:nvPr/>
        </p:nvSpPr>
        <p:spPr>
          <a:xfrm>
            <a:off x="0" y="0"/>
            <a:ext cx="9144000" cy="5143500"/>
          </a:xfrm>
          <a:prstGeom prst="rect">
            <a:avLst/>
          </a:prstGeom>
          <a:solidFill>
            <a:srgbClr val="A8A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7"/>
          <p:cNvSpPr/>
          <p:nvPr/>
        </p:nvSpPr>
        <p:spPr>
          <a:xfrm>
            <a:off x="0" y="0"/>
            <a:ext cx="9144000" cy="5143500"/>
          </a:xfrm>
          <a:prstGeom prst="rect">
            <a:avLst/>
          </a:prstGeom>
          <a:solidFill>
            <a:srgbClr val="080E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 name="Google Shape;29;p17">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sp>
        <p:nvSpPr>
          <p:cNvPr id="31" name="Google Shape;31;p18"/>
          <p:cNvSpPr/>
          <p:nvPr/>
        </p:nvSpPr>
        <p:spPr>
          <a:xfrm>
            <a:off x="0" y="0"/>
            <a:ext cx="9144000" cy="5143500"/>
          </a:xfrm>
          <a:prstGeom prst="rect">
            <a:avLst/>
          </a:prstGeom>
          <a:solidFill>
            <a:srgbClr val="A8A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8"/>
          <p:cNvSpPr/>
          <p:nvPr/>
        </p:nvSpPr>
        <p:spPr>
          <a:xfrm>
            <a:off x="0" y="0"/>
            <a:ext cx="9144000" cy="5143500"/>
          </a:xfrm>
          <a:prstGeom prst="rect">
            <a:avLst/>
          </a:prstGeom>
          <a:solidFill>
            <a:srgbClr val="080E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 name="Google Shape;33;p18">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sp>
        <p:nvSpPr>
          <p:cNvPr id="35" name="Google Shape;35;p19"/>
          <p:cNvSpPr/>
          <p:nvPr/>
        </p:nvSpPr>
        <p:spPr>
          <a:xfrm>
            <a:off x="0" y="0"/>
            <a:ext cx="9144000" cy="5143500"/>
          </a:xfrm>
          <a:prstGeom prst="rect">
            <a:avLst/>
          </a:prstGeom>
          <a:solidFill>
            <a:srgbClr val="A8A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19"/>
          <p:cNvSpPr/>
          <p:nvPr/>
        </p:nvSpPr>
        <p:spPr>
          <a:xfrm>
            <a:off x="0" y="0"/>
            <a:ext cx="9144000" cy="5143500"/>
          </a:xfrm>
          <a:prstGeom prst="rect">
            <a:avLst/>
          </a:prstGeom>
          <a:solidFill>
            <a:srgbClr val="080E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7" name="Google Shape;37;p19">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sp>
        <p:nvSpPr>
          <p:cNvPr id="39" name="Google Shape;39;p20"/>
          <p:cNvSpPr/>
          <p:nvPr/>
        </p:nvSpPr>
        <p:spPr>
          <a:xfrm>
            <a:off x="0" y="0"/>
            <a:ext cx="9144000" cy="5143500"/>
          </a:xfrm>
          <a:prstGeom prst="rect">
            <a:avLst/>
          </a:prstGeom>
          <a:solidFill>
            <a:srgbClr val="A8A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0"/>
          <p:cNvSpPr/>
          <p:nvPr/>
        </p:nvSpPr>
        <p:spPr>
          <a:xfrm>
            <a:off x="0" y="0"/>
            <a:ext cx="9144000" cy="5143500"/>
          </a:xfrm>
          <a:prstGeom prst="rect">
            <a:avLst/>
          </a:prstGeom>
          <a:solidFill>
            <a:srgbClr val="080E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1" name="Google Shape;41;p20">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sp>
        <p:nvSpPr>
          <p:cNvPr id="43" name="Google Shape;43;p21"/>
          <p:cNvSpPr/>
          <p:nvPr/>
        </p:nvSpPr>
        <p:spPr>
          <a:xfrm>
            <a:off x="0" y="0"/>
            <a:ext cx="9144000" cy="5143500"/>
          </a:xfrm>
          <a:prstGeom prst="rect">
            <a:avLst/>
          </a:prstGeom>
          <a:solidFill>
            <a:srgbClr val="A8A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1"/>
          <p:cNvSpPr/>
          <p:nvPr/>
        </p:nvSpPr>
        <p:spPr>
          <a:xfrm>
            <a:off x="0" y="0"/>
            <a:ext cx="9144000" cy="5143500"/>
          </a:xfrm>
          <a:prstGeom prst="rect">
            <a:avLst/>
          </a:prstGeom>
          <a:solidFill>
            <a:srgbClr val="080E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5" name="Google Shape;45;p21">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6" name="Shape 46"/>
        <p:cNvGrpSpPr/>
        <p:nvPr/>
      </p:nvGrpSpPr>
      <p:grpSpPr>
        <a:xfrm>
          <a:off x="0" y="0"/>
          <a:ext cx="0" cy="0"/>
          <a:chOff x="0" y="0"/>
          <a:chExt cx="0" cy="0"/>
        </a:xfrm>
      </p:grpSpPr>
      <p:sp>
        <p:nvSpPr>
          <p:cNvPr id="47" name="Google Shape;47;p22"/>
          <p:cNvSpPr/>
          <p:nvPr/>
        </p:nvSpPr>
        <p:spPr>
          <a:xfrm>
            <a:off x="0" y="0"/>
            <a:ext cx="9144000" cy="5143500"/>
          </a:xfrm>
          <a:prstGeom prst="rect">
            <a:avLst/>
          </a:prstGeom>
          <a:solidFill>
            <a:srgbClr val="A8A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2"/>
          <p:cNvSpPr/>
          <p:nvPr/>
        </p:nvSpPr>
        <p:spPr>
          <a:xfrm>
            <a:off x="0" y="0"/>
            <a:ext cx="9144000" cy="5143500"/>
          </a:xfrm>
          <a:prstGeom prst="rect">
            <a:avLst/>
          </a:prstGeom>
          <a:solidFill>
            <a:srgbClr val="080E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9" name="Google Shape;49;p22">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50" name="Shape 50"/>
        <p:cNvGrpSpPr/>
        <p:nvPr/>
      </p:nvGrpSpPr>
      <p:grpSpPr>
        <a:xfrm>
          <a:off x="0" y="0"/>
          <a:ext cx="0" cy="0"/>
          <a:chOff x="0" y="0"/>
          <a:chExt cx="0" cy="0"/>
        </a:xfrm>
      </p:grpSpPr>
      <p:sp>
        <p:nvSpPr>
          <p:cNvPr id="51" name="Google Shape;51;p23"/>
          <p:cNvSpPr/>
          <p:nvPr/>
        </p:nvSpPr>
        <p:spPr>
          <a:xfrm>
            <a:off x="0" y="0"/>
            <a:ext cx="9144000" cy="5143500"/>
          </a:xfrm>
          <a:prstGeom prst="rect">
            <a:avLst/>
          </a:prstGeom>
          <a:solidFill>
            <a:srgbClr val="A8A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3"/>
          <p:cNvSpPr/>
          <p:nvPr/>
        </p:nvSpPr>
        <p:spPr>
          <a:xfrm>
            <a:off x="0" y="0"/>
            <a:ext cx="9144000" cy="5143500"/>
          </a:xfrm>
          <a:prstGeom prst="rect">
            <a:avLst/>
          </a:prstGeom>
          <a:solidFill>
            <a:srgbClr val="080E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3" name="Google Shape;53;p23">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4" name="Shape 5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12.png"/><Relationship Id="rId6" Type="http://schemas.openxmlformats.org/officeDocument/2006/relationships/image" Target="../media/image8.png"/><Relationship Id="rId7"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3.png"/><Relationship Id="rId7"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p:nvPr/>
        </p:nvSpPr>
        <p:spPr>
          <a:xfrm>
            <a:off x="5715000" y="0"/>
            <a:ext cx="3429000" cy="5143500"/>
          </a:xfrm>
          <a:prstGeom prst="rect">
            <a:avLst/>
          </a:prstGeom>
          <a:solidFill>
            <a:srgbClr val="2831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1" name="Google Shape;61;p1"/>
          <p:cNvPicPr preferRelativeResize="0"/>
          <p:nvPr/>
        </p:nvPicPr>
        <p:blipFill rotWithShape="1">
          <a:blip r:embed="rId3">
            <a:alphaModFix/>
          </a:blip>
          <a:srcRect b="0" l="0" r="0" t="0"/>
          <a:stretch/>
        </p:blipFill>
        <p:spPr>
          <a:xfrm>
            <a:off x="5785842" y="380181"/>
            <a:ext cx="3287241" cy="4383063"/>
          </a:xfrm>
          <a:prstGeom prst="rect">
            <a:avLst/>
          </a:prstGeom>
          <a:noFill/>
          <a:ln>
            <a:noFill/>
          </a:ln>
        </p:spPr>
      </p:pic>
      <p:sp>
        <p:nvSpPr>
          <p:cNvPr id="62" name="Google Shape;62;p1"/>
          <p:cNvSpPr/>
          <p:nvPr/>
        </p:nvSpPr>
        <p:spPr>
          <a:xfrm>
            <a:off x="496119" y="1304479"/>
            <a:ext cx="2000250" cy="266402"/>
          </a:xfrm>
          <a:prstGeom prst="roundRect">
            <a:avLst>
              <a:gd fmla="val 17880" name="adj"/>
            </a:avLst>
          </a:prstGeom>
          <a:solidFill>
            <a:srgbClr val="181E3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581174" y="1346969"/>
            <a:ext cx="2287339" cy="18142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BECEF"/>
              </a:buClr>
              <a:buSzPts val="850"/>
              <a:buFont typeface="Epilogue"/>
              <a:buNone/>
            </a:pPr>
            <a:r>
              <a:rPr b="0" i="0" lang="en-US" sz="850" u="none" cap="none" strike="noStrike">
                <a:solidFill>
                  <a:srgbClr val="EBECEF"/>
                </a:solidFill>
                <a:latin typeface="Epilogue"/>
                <a:ea typeface="Epilogue"/>
                <a:cs typeface="Epilogue"/>
                <a:sym typeface="Epilogue"/>
              </a:rPr>
              <a:t> ASIR · CIFP ZONZAMAS · 2025–2026</a:t>
            </a:r>
            <a:endParaRPr b="0" i="0" sz="850" u="none" cap="none" strike="noStrike">
              <a:solidFill>
                <a:srgbClr val="000000"/>
              </a:solidFill>
              <a:latin typeface="Arial"/>
              <a:ea typeface="Arial"/>
              <a:cs typeface="Arial"/>
              <a:sym typeface="Arial"/>
            </a:endParaRPr>
          </a:p>
        </p:txBody>
      </p:sp>
      <p:sp>
        <p:nvSpPr>
          <p:cNvPr id="64" name="Google Shape;64;p1"/>
          <p:cNvSpPr/>
          <p:nvPr/>
        </p:nvSpPr>
        <p:spPr>
          <a:xfrm>
            <a:off x="496119" y="1627584"/>
            <a:ext cx="4722763" cy="17719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750"/>
              <a:buFont typeface="Fraunces"/>
              <a:buNone/>
            </a:pPr>
            <a:r>
              <a:rPr b="0" i="0" lang="en-US" sz="2750" u="none" cap="none" strike="noStrike">
                <a:solidFill>
                  <a:srgbClr val="FFFFFF"/>
                </a:solidFill>
                <a:latin typeface="Fraunces"/>
                <a:ea typeface="Fraunces"/>
                <a:cs typeface="Fraunces"/>
                <a:sym typeface="Fraunces"/>
              </a:rPr>
              <a:t>Sistema de Inteligencia de Ciberamenazas mediante Honeypot para el Sector Turístico de Lanzarote</a:t>
            </a:r>
            <a:endParaRPr b="0" i="0" sz="2750" u="none" cap="none" strike="noStrike">
              <a:solidFill>
                <a:srgbClr val="000000"/>
              </a:solidFill>
              <a:latin typeface="Arial"/>
              <a:ea typeface="Arial"/>
              <a:cs typeface="Arial"/>
              <a:sym typeface="Arial"/>
            </a:endParaRPr>
          </a:p>
        </p:txBody>
      </p:sp>
      <p:sp>
        <p:nvSpPr>
          <p:cNvPr id="65" name="Google Shape;65;p1"/>
          <p:cNvSpPr/>
          <p:nvPr/>
        </p:nvSpPr>
        <p:spPr>
          <a:xfrm>
            <a:off x="496119" y="3612133"/>
            <a:ext cx="5179963"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BECEF"/>
              </a:buClr>
              <a:buSzPts val="1100"/>
              <a:buFont typeface="Epilogue"/>
              <a:buNone/>
            </a:pPr>
            <a:r>
              <a:rPr b="0" i="0" lang="en-US" sz="1100" u="none" cap="none" strike="noStrike">
                <a:solidFill>
                  <a:srgbClr val="EBECEF"/>
                </a:solidFill>
                <a:latin typeface="Epilogue"/>
                <a:ea typeface="Epilogue"/>
                <a:cs typeface="Epilogue"/>
                <a:sym typeface="Epilogue"/>
              </a:rPr>
              <a:t>Proyecto de Fin de Grado · </a:t>
            </a:r>
            <a:r>
              <a:rPr b="1" i="0" lang="en-US" sz="1100" u="none" cap="none" strike="noStrike">
                <a:solidFill>
                  <a:srgbClr val="EBECEF"/>
                </a:solidFill>
                <a:latin typeface="Epilogue"/>
                <a:ea typeface="Epilogue"/>
                <a:cs typeface="Epilogue"/>
                <a:sym typeface="Epilogue"/>
              </a:rPr>
              <a:t>Frainel Tomás de León García</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p:nvPr/>
        </p:nvSpPr>
        <p:spPr>
          <a:xfrm>
            <a:off x="598066" y="334566"/>
            <a:ext cx="771376" cy="212154"/>
          </a:xfrm>
          <a:prstGeom prst="roundRect">
            <a:avLst>
              <a:gd fmla="val 18243" name="adj"/>
            </a:avLst>
          </a:prstGeom>
          <a:noFill/>
          <a:ln cap="flat" cmpd="sng" w="9525">
            <a:solidFill>
              <a:srgbClr val="8C98C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
          <p:cNvSpPr/>
          <p:nvPr/>
        </p:nvSpPr>
        <p:spPr>
          <a:xfrm>
            <a:off x="671885" y="373856"/>
            <a:ext cx="1080939" cy="133573"/>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8C98CA"/>
              </a:buClr>
              <a:buSzPts val="700"/>
              <a:buFont typeface="Epilogue"/>
              <a:buNone/>
            </a:pPr>
            <a:r>
              <a:rPr b="0" i="0" lang="en-US" sz="700" u="none" cap="none" strike="noStrike">
                <a:solidFill>
                  <a:srgbClr val="8C98CA"/>
                </a:solidFill>
                <a:latin typeface="Epilogue"/>
                <a:ea typeface="Epilogue"/>
                <a:cs typeface="Epilogue"/>
                <a:sym typeface="Epilogue"/>
              </a:rPr>
              <a:t>JUSTIFICACIÓN</a:t>
            </a:r>
            <a:endParaRPr b="0" i="0" sz="700" u="none" cap="none" strike="noStrike">
              <a:solidFill>
                <a:srgbClr val="000000"/>
              </a:solidFill>
              <a:latin typeface="Arial"/>
              <a:ea typeface="Arial"/>
              <a:cs typeface="Arial"/>
              <a:sym typeface="Arial"/>
            </a:endParaRPr>
          </a:p>
        </p:txBody>
      </p:sp>
      <p:sp>
        <p:nvSpPr>
          <p:cNvPr id="73" name="Google Shape;73;p2"/>
          <p:cNvSpPr/>
          <p:nvPr/>
        </p:nvSpPr>
        <p:spPr>
          <a:xfrm>
            <a:off x="598066" y="584150"/>
            <a:ext cx="5424785" cy="35994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250"/>
              <a:buFont typeface="Fraunces"/>
              <a:buNone/>
            </a:pPr>
            <a:r>
              <a:rPr b="0" i="0" lang="en-US" sz="2250" u="none" cap="none" strike="noStrike">
                <a:solidFill>
                  <a:srgbClr val="FFFFFF"/>
                </a:solidFill>
                <a:latin typeface="Fraunces"/>
                <a:ea typeface="Fraunces"/>
                <a:cs typeface="Fraunces"/>
                <a:sym typeface="Fraunces"/>
              </a:rPr>
              <a:t>Un Sector Expuesto y Sin Protección</a:t>
            </a:r>
            <a:endParaRPr b="0" i="0" sz="2250" u="none" cap="none" strike="noStrike">
              <a:solidFill>
                <a:srgbClr val="000000"/>
              </a:solidFill>
              <a:latin typeface="Arial"/>
              <a:ea typeface="Arial"/>
              <a:cs typeface="Arial"/>
              <a:sym typeface="Arial"/>
            </a:endParaRPr>
          </a:p>
        </p:txBody>
      </p:sp>
      <p:pic>
        <p:nvPicPr>
          <p:cNvPr descr="preencoded.png" id="74" name="Google Shape;74;p2"/>
          <p:cNvPicPr preferRelativeResize="0"/>
          <p:nvPr/>
        </p:nvPicPr>
        <p:blipFill rotWithShape="1">
          <a:blip r:embed="rId3">
            <a:alphaModFix/>
          </a:blip>
          <a:srcRect b="0" l="0" r="0" t="0"/>
          <a:stretch/>
        </p:blipFill>
        <p:spPr>
          <a:xfrm>
            <a:off x="598066" y="1189658"/>
            <a:ext cx="2599060" cy="2599060"/>
          </a:xfrm>
          <a:prstGeom prst="rect">
            <a:avLst/>
          </a:prstGeom>
          <a:noFill/>
          <a:ln>
            <a:noFill/>
          </a:ln>
        </p:spPr>
      </p:pic>
      <p:sp>
        <p:nvSpPr>
          <p:cNvPr id="75" name="Google Shape;75;p2"/>
          <p:cNvSpPr/>
          <p:nvPr/>
        </p:nvSpPr>
        <p:spPr>
          <a:xfrm>
            <a:off x="3482876" y="2238673"/>
            <a:ext cx="5067672" cy="500955"/>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EBECEF"/>
              </a:buClr>
              <a:buSzPts val="900"/>
              <a:buFont typeface="Epilogue"/>
              <a:buNone/>
            </a:pPr>
            <a:r>
              <a:rPr b="0" i="0" lang="en-US" sz="900" u="none" cap="none" strike="noStrike">
                <a:solidFill>
                  <a:srgbClr val="EBECEF"/>
                </a:solidFill>
                <a:latin typeface="Epilogue"/>
                <a:ea typeface="Epilogue"/>
                <a:cs typeface="Epilogue"/>
                <a:sym typeface="Epilogue"/>
              </a:rPr>
              <a:t>Las PYMES turísticas de Lanzarote gestionan datos sensibles —reservas, pagos, documentación de clientes— sin infraestructura de seguridad adecuada. Según </a:t>
            </a:r>
            <a:r>
              <a:rPr b="1" i="0" lang="en-US" sz="900" u="none" cap="none" strike="noStrike">
                <a:solidFill>
                  <a:srgbClr val="EBECEF"/>
                </a:solidFill>
                <a:latin typeface="Epilogue"/>
                <a:ea typeface="Epilogue"/>
                <a:cs typeface="Epilogue"/>
                <a:sym typeface="Epilogue"/>
              </a:rPr>
              <a:t>INCIBE</a:t>
            </a:r>
            <a:r>
              <a:rPr b="0" i="0" lang="en-US" sz="900" u="none" cap="none" strike="noStrike">
                <a:solidFill>
                  <a:srgbClr val="EBECEF"/>
                </a:solidFill>
                <a:latin typeface="Epilogue"/>
                <a:ea typeface="Epilogue"/>
                <a:cs typeface="Epilogue"/>
                <a:sym typeface="Epilogue"/>
              </a:rPr>
              <a:t> y el </a:t>
            </a:r>
            <a:r>
              <a:rPr b="1" i="0" lang="en-US" sz="900" u="none" cap="none" strike="noStrike">
                <a:solidFill>
                  <a:srgbClr val="EBECEF"/>
                </a:solidFill>
                <a:latin typeface="Epilogue"/>
                <a:ea typeface="Epilogue"/>
                <a:cs typeface="Epilogue"/>
                <a:sym typeface="Epilogue"/>
              </a:rPr>
              <a:t>Informe de Ciberseguridad en el Sector Turístico 2025</a:t>
            </a:r>
            <a:r>
              <a:rPr b="0" i="0" lang="en-US" sz="900" u="none" cap="none" strike="noStrike">
                <a:solidFill>
                  <a:srgbClr val="EBECEF"/>
                </a:solidFill>
                <a:latin typeface="Epilogue"/>
                <a:ea typeface="Epilogue"/>
                <a:cs typeface="Epilogue"/>
                <a:sym typeface="Epilogue"/>
              </a:rPr>
              <a:t>, la situación es crítica:</a:t>
            </a:r>
            <a:endParaRPr b="0" i="0" sz="900" u="none" cap="none" strike="noStrike">
              <a:solidFill>
                <a:srgbClr val="000000"/>
              </a:solidFill>
              <a:latin typeface="Arial"/>
              <a:ea typeface="Arial"/>
              <a:cs typeface="Arial"/>
              <a:sym typeface="Arial"/>
            </a:endParaRPr>
          </a:p>
        </p:txBody>
      </p:sp>
      <p:sp>
        <p:nvSpPr>
          <p:cNvPr id="76" name="Google Shape;76;p2"/>
          <p:cNvSpPr/>
          <p:nvPr/>
        </p:nvSpPr>
        <p:spPr>
          <a:xfrm>
            <a:off x="598066" y="3999161"/>
            <a:ext cx="2586856" cy="809774"/>
          </a:xfrm>
          <a:prstGeom prst="roundRect">
            <a:avLst>
              <a:gd fmla="val 5974"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
          <p:cNvSpPr/>
          <p:nvPr/>
        </p:nvSpPr>
        <p:spPr>
          <a:xfrm>
            <a:off x="717947" y="4119042"/>
            <a:ext cx="1896963" cy="1799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100"/>
              <a:buFont typeface="Fraunces"/>
              <a:buNone/>
            </a:pPr>
            <a:r>
              <a:rPr b="0" i="0" lang="en-US" sz="1100" u="none" cap="none" strike="noStrike">
                <a:solidFill>
                  <a:srgbClr val="EBECEF"/>
                </a:solidFill>
                <a:latin typeface="Fraunces"/>
                <a:ea typeface="Fraunces"/>
                <a:cs typeface="Fraunces"/>
                <a:sym typeface="Fraunces"/>
              </a:rPr>
              <a:t>78%</a:t>
            </a:r>
            <a:endParaRPr b="0" i="0" sz="1100" u="none" cap="none" strike="noStrike">
              <a:solidFill>
                <a:srgbClr val="000000"/>
              </a:solidFill>
              <a:latin typeface="Arial"/>
              <a:ea typeface="Arial"/>
              <a:cs typeface="Arial"/>
              <a:sym typeface="Arial"/>
            </a:endParaRPr>
          </a:p>
        </p:txBody>
      </p:sp>
      <p:sp>
        <p:nvSpPr>
          <p:cNvPr id="78" name="Google Shape;78;p2"/>
          <p:cNvSpPr/>
          <p:nvPr/>
        </p:nvSpPr>
        <p:spPr>
          <a:xfrm>
            <a:off x="717947" y="4355083"/>
            <a:ext cx="2804294" cy="166985"/>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EBECEF"/>
              </a:buClr>
              <a:buSzPts val="900"/>
              <a:buFont typeface="Epilogue"/>
              <a:buNone/>
            </a:pPr>
            <a:r>
              <a:rPr b="0" i="0" lang="en-US" sz="900" u="none" cap="none" strike="noStrike">
                <a:solidFill>
                  <a:srgbClr val="EBECEF"/>
                </a:solidFill>
                <a:latin typeface="Epilogue"/>
                <a:ea typeface="Epilogue"/>
                <a:cs typeface="Epilogue"/>
                <a:sym typeface="Epilogue"/>
              </a:rPr>
              <a:t>Sin ninguna medida de seguridad activa</a:t>
            </a:r>
            <a:endParaRPr b="0" i="0" sz="900" u="none" cap="none" strike="noStrike">
              <a:solidFill>
                <a:srgbClr val="000000"/>
              </a:solidFill>
              <a:latin typeface="Arial"/>
              <a:ea typeface="Arial"/>
              <a:cs typeface="Arial"/>
              <a:sym typeface="Arial"/>
            </a:endParaRPr>
          </a:p>
        </p:txBody>
      </p:sp>
      <p:sp>
        <p:nvSpPr>
          <p:cNvPr id="79" name="Google Shape;79;p2"/>
          <p:cNvSpPr/>
          <p:nvPr/>
        </p:nvSpPr>
        <p:spPr>
          <a:xfrm>
            <a:off x="3278460" y="3999161"/>
            <a:ext cx="2586930" cy="809774"/>
          </a:xfrm>
          <a:prstGeom prst="roundRect">
            <a:avLst>
              <a:gd fmla="val 5974"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
          <p:cNvSpPr/>
          <p:nvPr/>
        </p:nvSpPr>
        <p:spPr>
          <a:xfrm>
            <a:off x="3398341" y="4119042"/>
            <a:ext cx="1896963" cy="1799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100"/>
              <a:buFont typeface="Fraunces"/>
              <a:buNone/>
            </a:pPr>
            <a:r>
              <a:rPr b="0" i="0" lang="en-US" sz="1100" u="none" cap="none" strike="noStrike">
                <a:solidFill>
                  <a:srgbClr val="EBECEF"/>
                </a:solidFill>
                <a:latin typeface="Fraunces"/>
                <a:ea typeface="Fraunces"/>
                <a:cs typeface="Fraunces"/>
                <a:sym typeface="Fraunces"/>
              </a:rPr>
              <a:t>3× más</a:t>
            </a:r>
            <a:endParaRPr b="0" i="0" sz="1100" u="none" cap="none" strike="noStrike">
              <a:solidFill>
                <a:srgbClr val="000000"/>
              </a:solidFill>
              <a:latin typeface="Arial"/>
              <a:ea typeface="Arial"/>
              <a:cs typeface="Arial"/>
              <a:sym typeface="Arial"/>
            </a:endParaRPr>
          </a:p>
        </p:txBody>
      </p:sp>
      <p:sp>
        <p:nvSpPr>
          <p:cNvPr id="81" name="Google Shape;81;p2"/>
          <p:cNvSpPr/>
          <p:nvPr/>
        </p:nvSpPr>
        <p:spPr>
          <a:xfrm>
            <a:off x="3398341" y="4355083"/>
            <a:ext cx="2347168" cy="333970"/>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EBECEF"/>
              </a:buClr>
              <a:buSzPts val="900"/>
              <a:buFont typeface="Epilogue"/>
              <a:buNone/>
            </a:pPr>
            <a:r>
              <a:rPr b="0" i="0" lang="en-US" sz="900" u="none" cap="none" strike="noStrike">
                <a:solidFill>
                  <a:srgbClr val="EBECEF"/>
                </a:solidFill>
                <a:latin typeface="Epilogue"/>
                <a:ea typeface="Epilogue"/>
                <a:cs typeface="Epilogue"/>
                <a:sym typeface="Epilogue"/>
              </a:rPr>
              <a:t>Probabilidad de sufrir ransomware frente a otros sectores</a:t>
            </a:r>
            <a:endParaRPr b="0" i="0" sz="900" u="none" cap="none" strike="noStrike">
              <a:solidFill>
                <a:srgbClr val="000000"/>
              </a:solidFill>
              <a:latin typeface="Arial"/>
              <a:ea typeface="Arial"/>
              <a:cs typeface="Arial"/>
              <a:sym typeface="Arial"/>
            </a:endParaRPr>
          </a:p>
        </p:txBody>
      </p:sp>
      <p:sp>
        <p:nvSpPr>
          <p:cNvPr id="82" name="Google Shape;82;p2"/>
          <p:cNvSpPr/>
          <p:nvPr/>
        </p:nvSpPr>
        <p:spPr>
          <a:xfrm>
            <a:off x="5958929" y="3999161"/>
            <a:ext cx="2586856" cy="809774"/>
          </a:xfrm>
          <a:prstGeom prst="roundRect">
            <a:avLst>
              <a:gd fmla="val 5974"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
          <p:cNvSpPr/>
          <p:nvPr/>
        </p:nvSpPr>
        <p:spPr>
          <a:xfrm>
            <a:off x="6078810" y="4119042"/>
            <a:ext cx="1896963" cy="1799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100"/>
              <a:buFont typeface="Fraunces"/>
              <a:buNone/>
            </a:pPr>
            <a:r>
              <a:rPr b="0" i="0" lang="en-US" sz="1100" u="none" cap="none" strike="noStrike">
                <a:solidFill>
                  <a:srgbClr val="EBECEF"/>
                </a:solidFill>
                <a:latin typeface="Fraunces"/>
                <a:ea typeface="Fraunces"/>
                <a:cs typeface="Fraunces"/>
                <a:sym typeface="Fraunces"/>
              </a:rPr>
              <a:t>€42K</a:t>
            </a:r>
            <a:endParaRPr b="0" i="0" sz="1100" u="none" cap="none" strike="noStrike">
              <a:solidFill>
                <a:srgbClr val="000000"/>
              </a:solidFill>
              <a:latin typeface="Arial"/>
              <a:ea typeface="Arial"/>
              <a:cs typeface="Arial"/>
              <a:sym typeface="Arial"/>
            </a:endParaRPr>
          </a:p>
        </p:txBody>
      </p:sp>
      <p:sp>
        <p:nvSpPr>
          <p:cNvPr id="84" name="Google Shape;84;p2"/>
          <p:cNvSpPr/>
          <p:nvPr/>
        </p:nvSpPr>
        <p:spPr>
          <a:xfrm>
            <a:off x="6078810" y="4355083"/>
            <a:ext cx="2347094" cy="333970"/>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EBECEF"/>
              </a:buClr>
              <a:buSzPts val="900"/>
              <a:buFont typeface="Epilogue"/>
              <a:buNone/>
            </a:pPr>
            <a:r>
              <a:rPr b="0" i="0" lang="en-US" sz="900" u="none" cap="none" strike="noStrike">
                <a:solidFill>
                  <a:srgbClr val="EBECEF"/>
                </a:solidFill>
                <a:latin typeface="Epilogue"/>
                <a:ea typeface="Epilogue"/>
                <a:cs typeface="Epilogue"/>
                <a:sym typeface="Epilogue"/>
              </a:rPr>
              <a:t>Coste medio de recuperación tras un incidente grave</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3"/>
          <p:cNvSpPr/>
          <p:nvPr/>
        </p:nvSpPr>
        <p:spPr>
          <a:xfrm>
            <a:off x="980182" y="291257"/>
            <a:ext cx="822573" cy="187375"/>
          </a:xfrm>
          <a:prstGeom prst="roundRect">
            <a:avLst>
              <a:gd fmla="val 18669" name="adj"/>
            </a:avLst>
          </a:prstGeom>
          <a:noFill/>
          <a:ln cap="flat" cmpd="sng" w="9525">
            <a:solidFill>
              <a:srgbClr val="8C98C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3"/>
          <p:cNvSpPr/>
          <p:nvPr/>
        </p:nvSpPr>
        <p:spPr>
          <a:xfrm>
            <a:off x="1047378" y="327199"/>
            <a:ext cx="1145381" cy="115491"/>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8C98CA"/>
              </a:buClr>
              <a:buSzPts val="650"/>
              <a:buFont typeface="Epilogue"/>
              <a:buNone/>
            </a:pPr>
            <a:r>
              <a:rPr b="0" i="0" lang="en-US" sz="650" u="none" cap="none" strike="noStrike">
                <a:solidFill>
                  <a:srgbClr val="8C98CA"/>
                </a:solidFill>
                <a:latin typeface="Epilogue"/>
                <a:ea typeface="Epilogue"/>
                <a:cs typeface="Epilogue"/>
                <a:sym typeface="Epilogue"/>
              </a:rPr>
              <a:t>OBJETIVO DEL TFG</a:t>
            </a:r>
            <a:endParaRPr b="0" i="0" sz="650" u="none" cap="none" strike="noStrike">
              <a:solidFill>
                <a:srgbClr val="000000"/>
              </a:solidFill>
              <a:latin typeface="Arial"/>
              <a:ea typeface="Arial"/>
              <a:cs typeface="Arial"/>
              <a:sym typeface="Arial"/>
            </a:endParaRPr>
          </a:p>
        </p:txBody>
      </p:sp>
      <p:sp>
        <p:nvSpPr>
          <p:cNvPr id="92" name="Google Shape;92;p3"/>
          <p:cNvSpPr/>
          <p:nvPr/>
        </p:nvSpPr>
        <p:spPr>
          <a:xfrm>
            <a:off x="980182" y="509141"/>
            <a:ext cx="6790134" cy="32533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000"/>
              <a:buFont typeface="Fraunces"/>
              <a:buNone/>
            </a:pPr>
            <a:r>
              <a:rPr b="0" i="0" lang="en-US" sz="2000" u="none" cap="none" strike="noStrike">
                <a:solidFill>
                  <a:srgbClr val="FFFFFF"/>
                </a:solidFill>
                <a:latin typeface="Fraunces"/>
                <a:ea typeface="Fraunces"/>
                <a:cs typeface="Fraunces"/>
                <a:sym typeface="Fraunces"/>
              </a:rPr>
              <a:t>De la Seguridad Reactiva a la Inteligencia Proactiva</a:t>
            </a:r>
            <a:endParaRPr b="0" i="0" sz="2000" u="none" cap="none" strike="noStrike">
              <a:solidFill>
                <a:srgbClr val="000000"/>
              </a:solidFill>
              <a:latin typeface="Arial"/>
              <a:ea typeface="Arial"/>
              <a:cs typeface="Arial"/>
              <a:sym typeface="Arial"/>
            </a:endParaRPr>
          </a:p>
        </p:txBody>
      </p:sp>
      <p:sp>
        <p:nvSpPr>
          <p:cNvPr id="93" name="Google Shape;93;p3"/>
          <p:cNvSpPr/>
          <p:nvPr/>
        </p:nvSpPr>
        <p:spPr>
          <a:xfrm>
            <a:off x="980182" y="949151"/>
            <a:ext cx="7183562" cy="288875"/>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EBECEF"/>
              </a:buClr>
              <a:buSzPts val="800"/>
              <a:buFont typeface="Epilogue"/>
              <a:buNone/>
            </a:pPr>
            <a:r>
              <a:rPr b="0" i="0" lang="en-US" sz="800" u="none" cap="none" strike="noStrike">
                <a:solidFill>
                  <a:srgbClr val="EBECEF"/>
                </a:solidFill>
                <a:latin typeface="Epilogue"/>
                <a:ea typeface="Epilogue"/>
                <a:cs typeface="Epilogue"/>
                <a:sym typeface="Epilogue"/>
              </a:rPr>
              <a:t>El modelo tradicional espera al ataque para actuar. Este proyecto lo invierte: desplegar una </a:t>
            </a:r>
            <a:r>
              <a:rPr b="1" i="0" lang="en-US" sz="800" u="none" cap="none" strike="noStrike">
                <a:solidFill>
                  <a:srgbClr val="EBECEF"/>
                </a:solidFill>
                <a:latin typeface="Epilogue"/>
                <a:ea typeface="Epilogue"/>
                <a:cs typeface="Epilogue"/>
                <a:sym typeface="Epilogue"/>
              </a:rPr>
              <a:t>red de señuelos (honeypots)</a:t>
            </a:r>
            <a:r>
              <a:rPr b="0" i="0" lang="en-US" sz="800" u="none" cap="none" strike="noStrike">
                <a:solidFill>
                  <a:srgbClr val="EBECEF"/>
                </a:solidFill>
                <a:latin typeface="Epilogue"/>
                <a:ea typeface="Epilogue"/>
                <a:cs typeface="Epilogue"/>
                <a:sym typeface="Epilogue"/>
              </a:rPr>
              <a:t> que atraiga a los atacantes, capture sus técnicas y genere </a:t>
            </a:r>
            <a:r>
              <a:rPr b="1" i="0" lang="en-US" sz="800" u="none" cap="none" strike="noStrike">
                <a:solidFill>
                  <a:srgbClr val="EBECEF"/>
                </a:solidFill>
                <a:latin typeface="Epilogue"/>
                <a:ea typeface="Epilogue"/>
                <a:cs typeface="Epilogue"/>
                <a:sym typeface="Epilogue"/>
              </a:rPr>
              <a:t>Indicadores de Compromiso (IOCs)</a:t>
            </a:r>
            <a:r>
              <a:rPr b="0" i="0" lang="en-US" sz="800" u="none" cap="none" strike="noStrike">
                <a:solidFill>
                  <a:srgbClr val="EBECEF"/>
                </a:solidFill>
                <a:latin typeface="Epilogue"/>
                <a:ea typeface="Epilogue"/>
                <a:cs typeface="Epilogue"/>
                <a:sym typeface="Epilogue"/>
              </a:rPr>
              <a:t> reales y accionables.</a:t>
            </a:r>
            <a:endParaRPr b="0" i="0" sz="800" u="none" cap="none" strike="noStrike">
              <a:solidFill>
                <a:srgbClr val="000000"/>
              </a:solidFill>
              <a:latin typeface="Arial"/>
              <a:ea typeface="Arial"/>
              <a:cs typeface="Arial"/>
              <a:sym typeface="Arial"/>
            </a:endParaRPr>
          </a:p>
        </p:txBody>
      </p:sp>
      <p:pic>
        <p:nvPicPr>
          <p:cNvPr descr="preencoded.png" id="94" name="Google Shape;94;p3"/>
          <p:cNvPicPr preferRelativeResize="0"/>
          <p:nvPr/>
        </p:nvPicPr>
        <p:blipFill rotWithShape="1">
          <a:blip r:embed="rId3">
            <a:alphaModFix/>
          </a:blip>
          <a:srcRect b="0" l="0" r="0" t="0"/>
          <a:stretch/>
        </p:blipFill>
        <p:spPr>
          <a:xfrm>
            <a:off x="980182" y="1323975"/>
            <a:ext cx="7183562" cy="3153370"/>
          </a:xfrm>
          <a:prstGeom prst="rect">
            <a:avLst/>
          </a:prstGeom>
          <a:noFill/>
          <a:ln>
            <a:noFill/>
          </a:ln>
        </p:spPr>
      </p:pic>
      <p:sp>
        <p:nvSpPr>
          <p:cNvPr id="95" name="Google Shape;95;p3"/>
          <p:cNvSpPr/>
          <p:nvPr/>
        </p:nvSpPr>
        <p:spPr>
          <a:xfrm>
            <a:off x="1970201" y="3476866"/>
            <a:ext cx="1487804" cy="19458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FFFFF"/>
              </a:buClr>
              <a:buSzPts val="1200"/>
              <a:buFont typeface="Fraunces"/>
              <a:buNone/>
            </a:pPr>
            <a:r>
              <a:rPr b="0" i="0" lang="en-US" sz="1200" u="none" cap="none" strike="noStrike">
                <a:solidFill>
                  <a:srgbClr val="FFFFFF"/>
                </a:solidFill>
                <a:latin typeface="Fraunces"/>
                <a:ea typeface="Fraunces"/>
                <a:cs typeface="Fraunces"/>
                <a:sym typeface="Fraunces"/>
              </a:rPr>
              <a:t>Reactivo</a:t>
            </a:r>
            <a:endParaRPr b="0" i="0" sz="1200" u="none" cap="none" strike="noStrike">
              <a:solidFill>
                <a:srgbClr val="000000"/>
              </a:solidFill>
              <a:latin typeface="Arial"/>
              <a:ea typeface="Arial"/>
              <a:cs typeface="Arial"/>
              <a:sym typeface="Arial"/>
            </a:endParaRPr>
          </a:p>
        </p:txBody>
      </p:sp>
      <p:sp>
        <p:nvSpPr>
          <p:cNvPr id="96" name="Google Shape;96;p3"/>
          <p:cNvSpPr/>
          <p:nvPr/>
        </p:nvSpPr>
        <p:spPr>
          <a:xfrm>
            <a:off x="2198801" y="3726804"/>
            <a:ext cx="1259204" cy="404744"/>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Responder tras el ataque, sin visibilidad</a:t>
            </a:r>
            <a:endParaRPr b="0" i="0" sz="950" u="none" cap="none" strike="noStrike">
              <a:solidFill>
                <a:srgbClr val="000000"/>
              </a:solidFill>
              <a:latin typeface="Arial"/>
              <a:ea typeface="Arial"/>
              <a:cs typeface="Arial"/>
              <a:sym typeface="Arial"/>
            </a:endParaRPr>
          </a:p>
        </p:txBody>
      </p:sp>
      <p:sp>
        <p:nvSpPr>
          <p:cNvPr id="97" name="Google Shape;97;p3"/>
          <p:cNvSpPr/>
          <p:nvPr/>
        </p:nvSpPr>
        <p:spPr>
          <a:xfrm>
            <a:off x="5505657" y="3563350"/>
            <a:ext cx="1487804" cy="19458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FFFFF"/>
              </a:buClr>
              <a:buSzPts val="1200"/>
              <a:buFont typeface="Fraunces"/>
              <a:buNone/>
            </a:pPr>
            <a:r>
              <a:rPr b="0" i="0" lang="en-US" sz="1200" u="none" cap="none" strike="noStrike">
                <a:solidFill>
                  <a:srgbClr val="FFFFFF"/>
                </a:solidFill>
                <a:latin typeface="Fraunces"/>
                <a:ea typeface="Fraunces"/>
                <a:cs typeface="Fraunces"/>
                <a:sym typeface="Fraunces"/>
              </a:rPr>
              <a:t>Inteligencia</a:t>
            </a:r>
            <a:endParaRPr b="0" i="0" sz="1200" u="none" cap="none" strike="noStrike">
              <a:solidFill>
                <a:srgbClr val="000000"/>
              </a:solidFill>
              <a:latin typeface="Arial"/>
              <a:ea typeface="Arial"/>
              <a:cs typeface="Arial"/>
              <a:sym typeface="Arial"/>
            </a:endParaRPr>
          </a:p>
        </p:txBody>
      </p:sp>
      <p:sp>
        <p:nvSpPr>
          <p:cNvPr id="98" name="Google Shape;98;p3"/>
          <p:cNvSpPr/>
          <p:nvPr/>
        </p:nvSpPr>
        <p:spPr>
          <a:xfrm>
            <a:off x="5734257" y="3813288"/>
            <a:ext cx="1259204" cy="269829"/>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Convertir IOCs en reglas y formación</a:t>
            </a:r>
            <a:endParaRPr b="0" i="0" sz="950" u="none" cap="none" strike="noStrike">
              <a:solidFill>
                <a:srgbClr val="000000"/>
              </a:solidFill>
              <a:latin typeface="Arial"/>
              <a:ea typeface="Arial"/>
              <a:cs typeface="Arial"/>
              <a:sym typeface="Arial"/>
            </a:endParaRPr>
          </a:p>
        </p:txBody>
      </p:sp>
      <p:sp>
        <p:nvSpPr>
          <p:cNvPr id="99" name="Google Shape;99;p3"/>
          <p:cNvSpPr/>
          <p:nvPr/>
        </p:nvSpPr>
        <p:spPr>
          <a:xfrm>
            <a:off x="3748307" y="1654653"/>
            <a:ext cx="1487803" cy="19458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FFFFF"/>
              </a:buClr>
              <a:buSzPts val="1200"/>
              <a:buFont typeface="Fraunces"/>
              <a:buNone/>
            </a:pPr>
            <a:r>
              <a:rPr b="0" i="0" lang="en-US" sz="1200" u="none" cap="none" strike="noStrike">
                <a:solidFill>
                  <a:srgbClr val="FFFFFF"/>
                </a:solidFill>
                <a:latin typeface="Fraunces"/>
                <a:ea typeface="Fraunces"/>
                <a:cs typeface="Fraunces"/>
                <a:sym typeface="Fraunces"/>
              </a:rPr>
              <a:t>Monitorizar</a:t>
            </a:r>
            <a:endParaRPr b="0" i="0" sz="1200" u="none" cap="none" strike="noStrike">
              <a:solidFill>
                <a:srgbClr val="000000"/>
              </a:solidFill>
              <a:latin typeface="Arial"/>
              <a:ea typeface="Arial"/>
              <a:cs typeface="Arial"/>
              <a:sym typeface="Arial"/>
            </a:endParaRPr>
          </a:p>
        </p:txBody>
      </p:sp>
      <p:sp>
        <p:nvSpPr>
          <p:cNvPr id="100" name="Google Shape;100;p3"/>
          <p:cNvSpPr/>
          <p:nvPr/>
        </p:nvSpPr>
        <p:spPr>
          <a:xfrm>
            <a:off x="3976907" y="1904591"/>
            <a:ext cx="1259203" cy="404744"/>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Capturar en honeypots y generar IOCs</a:t>
            </a:r>
            <a:endParaRPr b="0" i="0" sz="950" u="none" cap="none" strike="noStrike">
              <a:solidFill>
                <a:srgbClr val="000000"/>
              </a:solidFill>
              <a:latin typeface="Arial"/>
              <a:ea typeface="Arial"/>
              <a:cs typeface="Arial"/>
              <a:sym typeface="Arial"/>
            </a:endParaRPr>
          </a:p>
        </p:txBody>
      </p:sp>
      <p:sp>
        <p:nvSpPr>
          <p:cNvPr id="101" name="Google Shape;101;p3"/>
          <p:cNvSpPr/>
          <p:nvPr/>
        </p:nvSpPr>
        <p:spPr>
          <a:xfrm>
            <a:off x="980182" y="4563294"/>
            <a:ext cx="7183562" cy="288875"/>
          </a:xfrm>
          <a:prstGeom prst="rect">
            <a:avLst/>
          </a:prstGeom>
          <a:noFill/>
          <a:ln>
            <a:noFill/>
          </a:ln>
        </p:spPr>
        <p:txBody>
          <a:bodyPr anchorCtr="0" anchor="t" bIns="0" lIns="0" spcFirstLastPara="1" rIns="0" wrap="square" tIns="0">
            <a:noAutofit/>
          </a:bodyPr>
          <a:lstStyle/>
          <a:p>
            <a:pPr indent="0" lvl="0" marL="0" marR="0" rtl="0" algn="l">
              <a:lnSpc>
                <a:spcPct val="116000"/>
              </a:lnSpc>
              <a:spcBef>
                <a:spcPts val="0"/>
              </a:spcBef>
              <a:spcAft>
                <a:spcPts val="0"/>
              </a:spcAft>
              <a:buClr>
                <a:srgbClr val="EBECEF"/>
              </a:buClr>
              <a:buSzPts val="800"/>
              <a:buFont typeface="Epilogue"/>
              <a:buNone/>
            </a:pPr>
            <a:r>
              <a:rPr b="0" i="0" lang="en-US" sz="800" u="none" cap="none" strike="noStrike">
                <a:solidFill>
                  <a:srgbClr val="EBECEF"/>
                </a:solidFill>
                <a:latin typeface="Epilogue"/>
                <a:ea typeface="Epilogue"/>
                <a:cs typeface="Epilogue"/>
                <a:sym typeface="Epilogue"/>
              </a:rPr>
              <a:t>El objetivo final es dotar a </a:t>
            </a:r>
            <a:r>
              <a:rPr b="1" i="0" lang="en-US" sz="800" u="none" cap="none" strike="noStrike">
                <a:solidFill>
                  <a:srgbClr val="EBECEF"/>
                </a:solidFill>
                <a:latin typeface="Epilogue"/>
                <a:ea typeface="Epilogue"/>
                <a:cs typeface="Epilogue"/>
                <a:sym typeface="Epilogue"/>
              </a:rPr>
              <a:t>Apartamentos Playa Dorada</a:t>
            </a:r>
            <a:r>
              <a:rPr b="0" i="0" lang="en-US" sz="800" u="none" cap="none" strike="noStrike">
                <a:solidFill>
                  <a:srgbClr val="EBECEF"/>
                </a:solidFill>
                <a:latin typeface="Epilogue"/>
                <a:ea typeface="Epilogue"/>
                <a:cs typeface="Epilogue"/>
                <a:sym typeface="Epilogue"/>
              </a:rPr>
              <a:t> —simulación de PYME real de Lanzarote— de capacidad defensiva basada en evidencia de ataques reales.</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p:nvPr/>
        </p:nvSpPr>
        <p:spPr>
          <a:xfrm>
            <a:off x="480640" y="399380"/>
            <a:ext cx="1476226" cy="264765"/>
          </a:xfrm>
          <a:prstGeom prst="roundRect">
            <a:avLst>
              <a:gd fmla="val 17429" name="adj"/>
            </a:avLst>
          </a:prstGeom>
          <a:noFill/>
          <a:ln cap="flat" cmpd="sng" w="9525">
            <a:solidFill>
              <a:srgbClr val="8C98C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4"/>
          <p:cNvSpPr/>
          <p:nvPr/>
        </p:nvSpPr>
        <p:spPr>
          <a:xfrm>
            <a:off x="567779" y="445294"/>
            <a:ext cx="1759148" cy="172938"/>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8C98CA"/>
              </a:buClr>
              <a:buSzPts val="850"/>
              <a:buFont typeface="Epilogue"/>
              <a:buNone/>
            </a:pPr>
            <a:r>
              <a:rPr b="0" i="0" lang="en-US" sz="850" u="none" cap="none" strike="noStrike">
                <a:solidFill>
                  <a:srgbClr val="8C98CA"/>
                </a:solidFill>
                <a:latin typeface="Epilogue"/>
                <a:ea typeface="Epilogue"/>
                <a:cs typeface="Epilogue"/>
                <a:sym typeface="Epilogue"/>
              </a:rPr>
              <a:t>INFRAESTRUCTURA CLOUD</a:t>
            </a:r>
            <a:endParaRPr b="0" i="0" sz="850" u="none" cap="none" strike="noStrike">
              <a:solidFill>
                <a:srgbClr val="000000"/>
              </a:solidFill>
              <a:latin typeface="Arial"/>
              <a:ea typeface="Arial"/>
              <a:cs typeface="Arial"/>
              <a:sym typeface="Arial"/>
            </a:endParaRPr>
          </a:p>
        </p:txBody>
      </p:sp>
      <p:sp>
        <p:nvSpPr>
          <p:cNvPr id="109" name="Google Shape;109;p4"/>
          <p:cNvSpPr/>
          <p:nvPr/>
        </p:nvSpPr>
        <p:spPr>
          <a:xfrm>
            <a:off x="480640" y="717352"/>
            <a:ext cx="7379122" cy="4291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700"/>
              <a:buFont typeface="Fraunces"/>
              <a:buNone/>
            </a:pPr>
            <a:r>
              <a:rPr b="0" i="0" lang="en-US" sz="2700" u="none" cap="none" strike="noStrike">
                <a:solidFill>
                  <a:srgbClr val="FFFFFF"/>
                </a:solidFill>
                <a:latin typeface="Fraunces"/>
                <a:ea typeface="Fraunces"/>
                <a:cs typeface="Fraunces"/>
                <a:sym typeface="Fraunces"/>
              </a:rPr>
              <a:t>Despliegue en Oracle Cloud Infrastructure</a:t>
            </a:r>
            <a:endParaRPr b="0" i="0" sz="2700" u="none" cap="none" strike="noStrike">
              <a:solidFill>
                <a:srgbClr val="000000"/>
              </a:solidFill>
              <a:latin typeface="Arial"/>
              <a:ea typeface="Arial"/>
              <a:cs typeface="Arial"/>
              <a:sym typeface="Arial"/>
            </a:endParaRPr>
          </a:p>
        </p:txBody>
      </p:sp>
      <p:sp>
        <p:nvSpPr>
          <p:cNvPr id="110" name="Google Shape;110;p4"/>
          <p:cNvSpPr/>
          <p:nvPr/>
        </p:nvSpPr>
        <p:spPr>
          <a:xfrm>
            <a:off x="480640" y="1478979"/>
            <a:ext cx="3032671" cy="2145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350"/>
              <a:buFont typeface="Fraunces"/>
              <a:buNone/>
            </a:pPr>
            <a:r>
              <a:rPr b="0" i="0" lang="en-US" sz="1350" u="none" cap="none" strike="noStrike">
                <a:solidFill>
                  <a:srgbClr val="FFFFFF"/>
                </a:solidFill>
                <a:latin typeface="Fraunces"/>
                <a:ea typeface="Fraunces"/>
                <a:cs typeface="Fraunces"/>
                <a:sym typeface="Fraunces"/>
              </a:rPr>
              <a:t>Especificaciones de la Instancia</a:t>
            </a:r>
            <a:endParaRPr b="0" i="0" sz="1350" u="none" cap="none" strike="noStrike">
              <a:solidFill>
                <a:srgbClr val="000000"/>
              </a:solidFill>
              <a:latin typeface="Arial"/>
              <a:ea typeface="Arial"/>
              <a:cs typeface="Arial"/>
              <a:sym typeface="Arial"/>
            </a:endParaRPr>
          </a:p>
        </p:txBody>
      </p:sp>
      <p:sp>
        <p:nvSpPr>
          <p:cNvPr id="111" name="Google Shape;111;p4"/>
          <p:cNvSpPr/>
          <p:nvPr/>
        </p:nvSpPr>
        <p:spPr>
          <a:xfrm>
            <a:off x="480640" y="1843162"/>
            <a:ext cx="2534245" cy="1309167"/>
          </a:xfrm>
          <a:prstGeom prst="roundRect">
            <a:avLst>
              <a:gd fmla="val 6985" name="adj"/>
            </a:avLst>
          </a:prstGeom>
          <a:solidFill>
            <a:srgbClr val="080E26"/>
          </a:solidFill>
          <a:ln cap="flat" cmpd="sng" w="19050">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4"/>
          <p:cNvSpPr/>
          <p:nvPr/>
        </p:nvSpPr>
        <p:spPr>
          <a:xfrm>
            <a:off x="461590" y="1843162"/>
            <a:ext cx="76200" cy="1309167"/>
          </a:xfrm>
          <a:prstGeom prst="roundRect">
            <a:avLst>
              <a:gd fmla="val 75698" name="adj"/>
            </a:avLst>
          </a:prstGeom>
          <a:solidFill>
            <a:srgbClr val="8C98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4"/>
          <p:cNvSpPr/>
          <p:nvPr/>
        </p:nvSpPr>
        <p:spPr>
          <a:xfrm>
            <a:off x="694134" y="1999506"/>
            <a:ext cx="2173858" cy="2145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350"/>
              <a:buFont typeface="Fraunces"/>
              <a:buNone/>
            </a:pPr>
            <a:r>
              <a:rPr b="0" i="0" lang="en-US" sz="1350" u="none" cap="none" strike="noStrike">
                <a:solidFill>
                  <a:srgbClr val="EBECEF"/>
                </a:solidFill>
                <a:latin typeface="Fraunces"/>
                <a:ea typeface="Fraunces"/>
                <a:cs typeface="Fraunces"/>
                <a:sym typeface="Fraunces"/>
              </a:rPr>
              <a:t>VM.Standard2.4</a:t>
            </a:r>
            <a:endParaRPr b="0" i="0" sz="1350" u="none" cap="none" strike="noStrike">
              <a:solidFill>
                <a:srgbClr val="000000"/>
              </a:solidFill>
              <a:latin typeface="Arial"/>
              <a:ea typeface="Arial"/>
              <a:cs typeface="Arial"/>
              <a:sym typeface="Arial"/>
            </a:endParaRPr>
          </a:p>
        </p:txBody>
      </p:sp>
      <p:sp>
        <p:nvSpPr>
          <p:cNvPr id="114" name="Google Shape;114;p4"/>
          <p:cNvSpPr/>
          <p:nvPr/>
        </p:nvSpPr>
        <p:spPr>
          <a:xfrm>
            <a:off x="694134" y="2347020"/>
            <a:ext cx="2164407" cy="648965"/>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EBECEF"/>
              </a:buClr>
              <a:buSzPts val="1050"/>
              <a:buFont typeface="Epilogue"/>
              <a:buNone/>
            </a:pPr>
            <a:r>
              <a:rPr b="0" i="0" lang="en-US" sz="1050" u="none" cap="none" strike="noStrike">
                <a:solidFill>
                  <a:srgbClr val="EBECEF"/>
                </a:solidFill>
                <a:latin typeface="Epilogue"/>
                <a:ea typeface="Epilogue"/>
                <a:cs typeface="Epilogue"/>
                <a:sym typeface="Epilogue"/>
              </a:rPr>
              <a:t>4 OCPUs dedicados · Alto rendimiento en procesamiento de logs en tiempo real</a:t>
            </a:r>
            <a:endParaRPr b="0" i="0" sz="1050" u="none" cap="none" strike="noStrike">
              <a:solidFill>
                <a:srgbClr val="000000"/>
              </a:solidFill>
              <a:latin typeface="Arial"/>
              <a:ea typeface="Arial"/>
              <a:cs typeface="Arial"/>
              <a:sym typeface="Arial"/>
            </a:endParaRPr>
          </a:p>
        </p:txBody>
      </p:sp>
      <p:sp>
        <p:nvSpPr>
          <p:cNvPr id="115" name="Google Shape;115;p4"/>
          <p:cNvSpPr/>
          <p:nvPr/>
        </p:nvSpPr>
        <p:spPr>
          <a:xfrm>
            <a:off x="3147864" y="1843162"/>
            <a:ext cx="2534245" cy="1309167"/>
          </a:xfrm>
          <a:prstGeom prst="roundRect">
            <a:avLst>
              <a:gd fmla="val 6985" name="adj"/>
            </a:avLst>
          </a:prstGeom>
          <a:solidFill>
            <a:srgbClr val="080E26"/>
          </a:solidFill>
          <a:ln cap="flat" cmpd="sng" w="19050">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4"/>
          <p:cNvSpPr/>
          <p:nvPr/>
        </p:nvSpPr>
        <p:spPr>
          <a:xfrm>
            <a:off x="3128814" y="1843162"/>
            <a:ext cx="76200" cy="1309167"/>
          </a:xfrm>
          <a:prstGeom prst="roundRect">
            <a:avLst>
              <a:gd fmla="val 75698" name="adj"/>
            </a:avLst>
          </a:prstGeom>
          <a:solidFill>
            <a:srgbClr val="8C98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4"/>
          <p:cNvSpPr/>
          <p:nvPr/>
        </p:nvSpPr>
        <p:spPr>
          <a:xfrm>
            <a:off x="3361358" y="1999506"/>
            <a:ext cx="2173858" cy="2145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350"/>
              <a:buFont typeface="Fraunces"/>
              <a:buNone/>
            </a:pPr>
            <a:r>
              <a:rPr b="0" i="0" lang="en-US" sz="1350" u="none" cap="none" strike="noStrike">
                <a:solidFill>
                  <a:srgbClr val="EBECEF"/>
                </a:solidFill>
                <a:latin typeface="Fraunces"/>
                <a:ea typeface="Fraunces"/>
                <a:cs typeface="Fraunces"/>
                <a:sym typeface="Fraunces"/>
              </a:rPr>
              <a:t>60 GB RAM</a:t>
            </a:r>
            <a:endParaRPr b="0" i="0" sz="1350" u="none" cap="none" strike="noStrike">
              <a:solidFill>
                <a:srgbClr val="000000"/>
              </a:solidFill>
              <a:latin typeface="Arial"/>
              <a:ea typeface="Arial"/>
              <a:cs typeface="Arial"/>
              <a:sym typeface="Arial"/>
            </a:endParaRPr>
          </a:p>
        </p:txBody>
      </p:sp>
      <p:sp>
        <p:nvSpPr>
          <p:cNvPr id="118" name="Google Shape;118;p4"/>
          <p:cNvSpPr/>
          <p:nvPr/>
        </p:nvSpPr>
        <p:spPr>
          <a:xfrm>
            <a:off x="3361358" y="2347020"/>
            <a:ext cx="2164407" cy="648965"/>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EBECEF"/>
              </a:buClr>
              <a:buSzPts val="1050"/>
              <a:buFont typeface="Epilogue"/>
              <a:buNone/>
            </a:pPr>
            <a:r>
              <a:rPr b="0" i="0" lang="en-US" sz="1050" u="none" cap="none" strike="noStrike">
                <a:solidFill>
                  <a:srgbClr val="EBECEF"/>
                </a:solidFill>
                <a:latin typeface="Epilogue"/>
                <a:ea typeface="Epilogue"/>
                <a:cs typeface="Epilogue"/>
                <a:sym typeface="Epilogue"/>
              </a:rPr>
              <a:t>Capacidad para ejecutar múltiples contenedores Docker simultáneos sin degradación</a:t>
            </a:r>
            <a:endParaRPr b="0" i="0" sz="1050" u="none" cap="none" strike="noStrike">
              <a:solidFill>
                <a:srgbClr val="000000"/>
              </a:solidFill>
              <a:latin typeface="Arial"/>
              <a:ea typeface="Arial"/>
              <a:cs typeface="Arial"/>
              <a:sym typeface="Arial"/>
            </a:endParaRPr>
          </a:p>
        </p:txBody>
      </p:sp>
      <p:sp>
        <p:nvSpPr>
          <p:cNvPr id="119" name="Google Shape;119;p4"/>
          <p:cNvSpPr/>
          <p:nvPr/>
        </p:nvSpPr>
        <p:spPr>
          <a:xfrm>
            <a:off x="480640" y="3285306"/>
            <a:ext cx="2534245" cy="1309167"/>
          </a:xfrm>
          <a:prstGeom prst="roundRect">
            <a:avLst>
              <a:gd fmla="val 6985" name="adj"/>
            </a:avLst>
          </a:prstGeom>
          <a:solidFill>
            <a:srgbClr val="080E26"/>
          </a:solidFill>
          <a:ln cap="flat" cmpd="sng" w="19050">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4"/>
          <p:cNvSpPr/>
          <p:nvPr/>
        </p:nvSpPr>
        <p:spPr>
          <a:xfrm>
            <a:off x="461590" y="3285306"/>
            <a:ext cx="76200" cy="1309167"/>
          </a:xfrm>
          <a:prstGeom prst="roundRect">
            <a:avLst>
              <a:gd fmla="val 75698" name="adj"/>
            </a:avLst>
          </a:prstGeom>
          <a:solidFill>
            <a:srgbClr val="8C98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4"/>
          <p:cNvSpPr/>
          <p:nvPr/>
        </p:nvSpPr>
        <p:spPr>
          <a:xfrm>
            <a:off x="694134" y="3441650"/>
            <a:ext cx="2173858" cy="2145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350"/>
              <a:buFont typeface="Fraunces"/>
              <a:buNone/>
            </a:pPr>
            <a:r>
              <a:rPr b="0" i="0" lang="en-US" sz="1350" u="none" cap="none" strike="noStrike">
                <a:solidFill>
                  <a:srgbClr val="EBECEF"/>
                </a:solidFill>
                <a:latin typeface="Fraunces"/>
                <a:ea typeface="Fraunces"/>
                <a:cs typeface="Fraunces"/>
                <a:sym typeface="Fraunces"/>
              </a:rPr>
              <a:t>Ubuntu 24.04 LTS</a:t>
            </a:r>
            <a:endParaRPr b="0" i="0" sz="1350" u="none" cap="none" strike="noStrike">
              <a:solidFill>
                <a:srgbClr val="000000"/>
              </a:solidFill>
              <a:latin typeface="Arial"/>
              <a:ea typeface="Arial"/>
              <a:cs typeface="Arial"/>
              <a:sym typeface="Arial"/>
            </a:endParaRPr>
          </a:p>
        </p:txBody>
      </p:sp>
      <p:sp>
        <p:nvSpPr>
          <p:cNvPr id="122" name="Google Shape;122;p4"/>
          <p:cNvSpPr/>
          <p:nvPr/>
        </p:nvSpPr>
        <p:spPr>
          <a:xfrm>
            <a:off x="694134" y="3789164"/>
            <a:ext cx="2164407" cy="648965"/>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EBECEF"/>
              </a:buClr>
              <a:buSzPts val="1050"/>
              <a:buFont typeface="Epilogue"/>
              <a:buNone/>
            </a:pPr>
            <a:r>
              <a:rPr b="0" i="0" lang="en-US" sz="1050" u="none" cap="none" strike="noStrike">
                <a:solidFill>
                  <a:srgbClr val="EBECEF"/>
                </a:solidFill>
                <a:latin typeface="Epilogue"/>
                <a:ea typeface="Epilogue"/>
                <a:cs typeface="Epilogue"/>
                <a:sym typeface="Epilogue"/>
              </a:rPr>
              <a:t>Sistema base hardened · Actualizaciones de seguridad automáticas</a:t>
            </a:r>
            <a:endParaRPr b="0" i="0" sz="1050" u="none" cap="none" strike="noStrike">
              <a:solidFill>
                <a:srgbClr val="000000"/>
              </a:solidFill>
              <a:latin typeface="Arial"/>
              <a:ea typeface="Arial"/>
              <a:cs typeface="Arial"/>
              <a:sym typeface="Arial"/>
            </a:endParaRPr>
          </a:p>
        </p:txBody>
      </p:sp>
      <p:sp>
        <p:nvSpPr>
          <p:cNvPr id="123" name="Google Shape;123;p4"/>
          <p:cNvSpPr/>
          <p:nvPr/>
        </p:nvSpPr>
        <p:spPr>
          <a:xfrm>
            <a:off x="3147864" y="3285306"/>
            <a:ext cx="2534245" cy="1309167"/>
          </a:xfrm>
          <a:prstGeom prst="roundRect">
            <a:avLst>
              <a:gd fmla="val 6985" name="adj"/>
            </a:avLst>
          </a:prstGeom>
          <a:solidFill>
            <a:srgbClr val="080E26"/>
          </a:solidFill>
          <a:ln cap="flat" cmpd="sng" w="19050">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4"/>
          <p:cNvSpPr/>
          <p:nvPr/>
        </p:nvSpPr>
        <p:spPr>
          <a:xfrm>
            <a:off x="3128814" y="3285306"/>
            <a:ext cx="76200" cy="1309167"/>
          </a:xfrm>
          <a:prstGeom prst="roundRect">
            <a:avLst>
              <a:gd fmla="val 75698" name="adj"/>
            </a:avLst>
          </a:prstGeom>
          <a:solidFill>
            <a:srgbClr val="8C98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4"/>
          <p:cNvSpPr/>
          <p:nvPr/>
        </p:nvSpPr>
        <p:spPr>
          <a:xfrm>
            <a:off x="3361358" y="3441650"/>
            <a:ext cx="2173858" cy="2145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350"/>
              <a:buFont typeface="Fraunces"/>
              <a:buNone/>
            </a:pPr>
            <a:r>
              <a:rPr b="0" i="0" lang="en-US" sz="1350" u="none" cap="none" strike="noStrike">
                <a:solidFill>
                  <a:srgbClr val="EBECEF"/>
                </a:solidFill>
                <a:latin typeface="Fraunces"/>
                <a:ea typeface="Fraunces"/>
                <a:cs typeface="Fraunces"/>
                <a:sym typeface="Fraunces"/>
              </a:rPr>
              <a:t>IP Pública </a:t>
            </a:r>
            <a:endParaRPr b="0" i="0" sz="1350" u="none" cap="none" strike="noStrike">
              <a:solidFill>
                <a:srgbClr val="000000"/>
              </a:solidFill>
              <a:latin typeface="Arial"/>
              <a:ea typeface="Arial"/>
              <a:cs typeface="Arial"/>
              <a:sym typeface="Arial"/>
            </a:endParaRPr>
          </a:p>
        </p:txBody>
      </p:sp>
      <p:sp>
        <p:nvSpPr>
          <p:cNvPr id="126" name="Google Shape;126;p4"/>
          <p:cNvSpPr/>
          <p:nvPr/>
        </p:nvSpPr>
        <p:spPr>
          <a:xfrm>
            <a:off x="3361358" y="3789164"/>
            <a:ext cx="2164407" cy="648965"/>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EBECEF"/>
              </a:buClr>
              <a:buSzPts val="1050"/>
              <a:buFont typeface="Epilogue"/>
              <a:buNone/>
            </a:pPr>
            <a:r>
              <a:rPr b="0" i="0" lang="en-US" sz="1050" u="none" cap="none" strike="noStrike">
                <a:solidFill>
                  <a:srgbClr val="EBECEF"/>
                </a:solidFill>
                <a:latin typeface="Epilogue"/>
                <a:ea typeface="Epilogue"/>
                <a:cs typeface="Epilogue"/>
                <a:sym typeface="Epilogue"/>
              </a:rPr>
              <a:t>Exposición directa a internet para maximizar la captura de ataques reales</a:t>
            </a:r>
            <a:endParaRPr b="0" i="0" sz="1050" u="none" cap="none" strike="noStrike">
              <a:solidFill>
                <a:srgbClr val="000000"/>
              </a:solidFill>
              <a:latin typeface="Arial"/>
              <a:ea typeface="Arial"/>
              <a:cs typeface="Arial"/>
              <a:sym typeface="Arial"/>
            </a:endParaRPr>
          </a:p>
        </p:txBody>
      </p:sp>
      <p:pic>
        <p:nvPicPr>
          <p:cNvPr descr="preencoded.png" id="127" name="Google Shape;127;p4"/>
          <p:cNvPicPr preferRelativeResize="0"/>
          <p:nvPr/>
        </p:nvPicPr>
        <p:blipFill rotWithShape="1">
          <a:blip r:embed="rId3">
            <a:alphaModFix/>
          </a:blip>
          <a:srcRect b="0" l="0" r="0" t="0"/>
          <a:stretch/>
        </p:blipFill>
        <p:spPr>
          <a:xfrm>
            <a:off x="6021884" y="1721941"/>
            <a:ext cx="2646164" cy="264616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5"/>
          <p:cNvSpPr/>
          <p:nvPr/>
        </p:nvSpPr>
        <p:spPr>
          <a:xfrm>
            <a:off x="434132" y="374526"/>
            <a:ext cx="1243459" cy="232842"/>
          </a:xfrm>
          <a:prstGeom prst="roundRect">
            <a:avLst>
              <a:gd fmla="val 17900" name="adj"/>
            </a:avLst>
          </a:prstGeom>
          <a:noFill/>
          <a:ln cap="flat" cmpd="sng" w="9525">
            <a:solidFill>
              <a:srgbClr val="8C98C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5"/>
          <p:cNvSpPr/>
          <p:nvPr/>
        </p:nvSpPr>
        <p:spPr>
          <a:xfrm>
            <a:off x="513308" y="416496"/>
            <a:ext cx="1542306" cy="14890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C98CA"/>
              </a:buClr>
              <a:buSzPts val="750"/>
              <a:buFont typeface="Epilogue"/>
              <a:buNone/>
            </a:pPr>
            <a:r>
              <a:rPr b="0" i="0" lang="en-US" sz="750" u="none" cap="none" strike="noStrike">
                <a:solidFill>
                  <a:srgbClr val="8C98CA"/>
                </a:solidFill>
                <a:latin typeface="Epilogue"/>
                <a:ea typeface="Epilogue"/>
                <a:cs typeface="Epilogue"/>
                <a:sym typeface="Epilogue"/>
              </a:rPr>
              <a:t>ARQUITECTURA TÉCNICA</a:t>
            </a:r>
            <a:endParaRPr b="0" i="0" sz="750" u="none" cap="none" strike="noStrike">
              <a:solidFill>
                <a:srgbClr val="000000"/>
              </a:solidFill>
              <a:latin typeface="Arial"/>
              <a:ea typeface="Arial"/>
              <a:cs typeface="Arial"/>
              <a:sym typeface="Arial"/>
            </a:endParaRPr>
          </a:p>
        </p:txBody>
      </p:sp>
      <p:sp>
        <p:nvSpPr>
          <p:cNvPr id="135" name="Google Shape;135;p5"/>
          <p:cNvSpPr/>
          <p:nvPr/>
        </p:nvSpPr>
        <p:spPr>
          <a:xfrm>
            <a:off x="434132" y="650751"/>
            <a:ext cx="8187258"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400"/>
              <a:buFont typeface="Fraunces"/>
              <a:buNone/>
            </a:pPr>
            <a:r>
              <a:rPr b="0" i="0" lang="en-US" sz="2400" u="none" cap="none" strike="noStrike">
                <a:solidFill>
                  <a:srgbClr val="FFFFFF"/>
                </a:solidFill>
                <a:latin typeface="Fraunces"/>
                <a:ea typeface="Fraunces"/>
                <a:cs typeface="Fraunces"/>
                <a:sym typeface="Fraunces"/>
              </a:rPr>
              <a:t>T-Pot 24.04 y Aislamiento por Contenedores Docker</a:t>
            </a:r>
            <a:endParaRPr b="0" i="0" sz="2400" u="none" cap="none" strike="noStrike">
              <a:solidFill>
                <a:srgbClr val="000000"/>
              </a:solidFill>
              <a:latin typeface="Arial"/>
              <a:ea typeface="Arial"/>
              <a:cs typeface="Arial"/>
              <a:sym typeface="Arial"/>
            </a:endParaRPr>
          </a:p>
        </p:txBody>
      </p:sp>
      <p:sp>
        <p:nvSpPr>
          <p:cNvPr id="136" name="Google Shape;136;p5"/>
          <p:cNvSpPr/>
          <p:nvPr/>
        </p:nvSpPr>
        <p:spPr>
          <a:xfrm>
            <a:off x="434132" y="1201043"/>
            <a:ext cx="8275737" cy="37207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950"/>
              <a:buFont typeface="Epilogue"/>
              <a:buNone/>
            </a:pPr>
            <a:r>
              <a:rPr b="1" i="0" lang="en-US" sz="950" u="none" cap="none" strike="noStrike">
                <a:solidFill>
                  <a:srgbClr val="EBECEF"/>
                </a:solidFill>
                <a:latin typeface="Epilogue"/>
                <a:ea typeface="Epilogue"/>
                <a:cs typeface="Epilogue"/>
                <a:sym typeface="Epilogue"/>
              </a:rPr>
              <a:t>T-Pot</a:t>
            </a:r>
            <a:r>
              <a:rPr b="0" i="0" lang="en-US" sz="950" u="none" cap="none" strike="noStrike">
                <a:solidFill>
                  <a:srgbClr val="EBECEF"/>
                </a:solidFill>
                <a:latin typeface="Epilogue"/>
                <a:ea typeface="Epilogue"/>
                <a:cs typeface="Epilogue"/>
                <a:sym typeface="Epilogue"/>
              </a:rPr>
              <a:t> es la plataforma honeypot de referencia mundial. Su arquitectura basada en </a:t>
            </a:r>
            <a:r>
              <a:rPr b="1" i="0" lang="en-US" sz="950" u="none" cap="none" strike="noStrike">
                <a:solidFill>
                  <a:srgbClr val="EBECEF"/>
                </a:solidFill>
                <a:latin typeface="Epilogue"/>
                <a:ea typeface="Epilogue"/>
                <a:cs typeface="Epilogue"/>
                <a:sym typeface="Epilogue"/>
              </a:rPr>
              <a:t>Docker</a:t>
            </a:r>
            <a:r>
              <a:rPr b="0" i="0" lang="en-US" sz="950" u="none" cap="none" strike="noStrike">
                <a:solidFill>
                  <a:srgbClr val="EBECEF"/>
                </a:solidFill>
                <a:latin typeface="Epilogue"/>
                <a:ea typeface="Epilogue"/>
                <a:cs typeface="Epilogue"/>
                <a:sym typeface="Epilogue"/>
              </a:rPr>
              <a:t> garantiza que cada sensor opere en un entorno aislado (</a:t>
            </a:r>
            <a:r>
              <a:rPr b="0" i="1" lang="en-US" sz="950" u="none" cap="none" strike="noStrike">
                <a:solidFill>
                  <a:srgbClr val="EBECEF"/>
                </a:solidFill>
                <a:latin typeface="Epilogue"/>
                <a:ea typeface="Epilogue"/>
                <a:cs typeface="Epilogue"/>
                <a:sym typeface="Epilogue"/>
              </a:rPr>
              <a:t>sandboxing</a:t>
            </a:r>
            <a:r>
              <a:rPr b="0" i="0" lang="en-US" sz="950" u="none" cap="none" strike="noStrike">
                <a:solidFill>
                  <a:srgbClr val="EBECEF"/>
                </a:solidFill>
                <a:latin typeface="Epilogue"/>
                <a:ea typeface="Epilogue"/>
                <a:cs typeface="Epilogue"/>
                <a:sym typeface="Epilogue"/>
              </a:rPr>
              <a:t>), eliminando el riesgo de compromiso del sistema anfitrión.</a:t>
            </a:r>
            <a:endParaRPr b="0" i="0" sz="950" u="none" cap="none" strike="noStrike">
              <a:solidFill>
                <a:srgbClr val="000000"/>
              </a:solidFill>
              <a:latin typeface="Arial"/>
              <a:ea typeface="Arial"/>
              <a:cs typeface="Arial"/>
              <a:sym typeface="Arial"/>
            </a:endParaRPr>
          </a:p>
        </p:txBody>
      </p:sp>
      <p:pic>
        <p:nvPicPr>
          <p:cNvPr descr="preencoded.png" id="137" name="Google Shape;137;p5"/>
          <p:cNvPicPr preferRelativeResize="0"/>
          <p:nvPr/>
        </p:nvPicPr>
        <p:blipFill rotWithShape="1">
          <a:blip r:embed="rId3">
            <a:alphaModFix/>
          </a:blip>
          <a:srcRect b="0" l="0" r="0" t="0"/>
          <a:stretch/>
        </p:blipFill>
        <p:spPr>
          <a:xfrm>
            <a:off x="434132" y="1881188"/>
            <a:ext cx="4083621" cy="714375"/>
          </a:xfrm>
          <a:prstGeom prst="rect">
            <a:avLst/>
          </a:prstGeom>
          <a:noFill/>
          <a:ln>
            <a:noFill/>
          </a:ln>
        </p:spPr>
      </p:pic>
      <p:sp>
        <p:nvSpPr>
          <p:cNvPr id="138" name="Google Shape;138;p5"/>
          <p:cNvSpPr/>
          <p:nvPr/>
        </p:nvSpPr>
        <p:spPr>
          <a:xfrm>
            <a:off x="558105" y="2361754"/>
            <a:ext cx="20077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200"/>
              <a:buFont typeface="Fraunces"/>
              <a:buNone/>
            </a:pPr>
            <a:r>
              <a:rPr b="0" i="0" lang="en-US" sz="1200" u="none" cap="none" strike="noStrike">
                <a:solidFill>
                  <a:srgbClr val="EBECEF"/>
                </a:solidFill>
                <a:latin typeface="Fraunces"/>
                <a:ea typeface="Fraunces"/>
                <a:cs typeface="Fraunces"/>
                <a:sym typeface="Fraunces"/>
              </a:rPr>
              <a:t>Oracle Cloud VPS</a:t>
            </a:r>
            <a:endParaRPr b="0" i="0" sz="1200" u="none" cap="none" strike="noStrike">
              <a:solidFill>
                <a:srgbClr val="000000"/>
              </a:solidFill>
              <a:latin typeface="Arial"/>
              <a:ea typeface="Arial"/>
              <a:cs typeface="Arial"/>
              <a:sym typeface="Arial"/>
            </a:endParaRPr>
          </a:p>
        </p:txBody>
      </p:sp>
      <p:sp>
        <p:nvSpPr>
          <p:cNvPr id="139" name="Google Shape;139;p5"/>
          <p:cNvSpPr/>
          <p:nvPr/>
        </p:nvSpPr>
        <p:spPr>
          <a:xfrm>
            <a:off x="558105" y="2620714"/>
            <a:ext cx="4292873" cy="1860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Infraestructura base en la nube</a:t>
            </a:r>
            <a:endParaRPr b="0" i="0" sz="950" u="none" cap="none" strike="noStrike">
              <a:solidFill>
                <a:srgbClr val="000000"/>
              </a:solidFill>
              <a:latin typeface="Arial"/>
              <a:ea typeface="Arial"/>
              <a:cs typeface="Arial"/>
              <a:sym typeface="Arial"/>
            </a:endParaRPr>
          </a:p>
        </p:txBody>
      </p:sp>
      <p:pic>
        <p:nvPicPr>
          <p:cNvPr descr="preencoded.png" id="140" name="Google Shape;140;p5"/>
          <p:cNvPicPr preferRelativeResize="0"/>
          <p:nvPr/>
        </p:nvPicPr>
        <p:blipFill rotWithShape="1">
          <a:blip r:embed="rId3">
            <a:alphaModFix/>
          </a:blip>
          <a:srcRect b="0" l="0" r="0" t="0"/>
          <a:stretch/>
        </p:blipFill>
        <p:spPr>
          <a:xfrm>
            <a:off x="4626248" y="1695152"/>
            <a:ext cx="4083621" cy="714375"/>
          </a:xfrm>
          <a:prstGeom prst="rect">
            <a:avLst/>
          </a:prstGeom>
          <a:noFill/>
          <a:ln>
            <a:noFill/>
          </a:ln>
        </p:spPr>
      </p:pic>
      <p:sp>
        <p:nvSpPr>
          <p:cNvPr id="141" name="Google Shape;141;p5"/>
          <p:cNvSpPr/>
          <p:nvPr/>
        </p:nvSpPr>
        <p:spPr>
          <a:xfrm>
            <a:off x="4750222" y="2175718"/>
            <a:ext cx="20077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200"/>
              <a:buFont typeface="Fraunces"/>
              <a:buNone/>
            </a:pPr>
            <a:r>
              <a:rPr b="0" i="0" lang="en-US" sz="1200" u="none" cap="none" strike="noStrike">
                <a:solidFill>
                  <a:srgbClr val="EBECEF"/>
                </a:solidFill>
                <a:latin typeface="Fraunces"/>
                <a:ea typeface="Fraunces"/>
                <a:cs typeface="Fraunces"/>
                <a:sym typeface="Fraunces"/>
              </a:rPr>
              <a:t>Docker Engine</a:t>
            </a:r>
            <a:endParaRPr b="0" i="0" sz="1200" u="none" cap="none" strike="noStrike">
              <a:solidFill>
                <a:srgbClr val="000000"/>
              </a:solidFill>
              <a:latin typeface="Arial"/>
              <a:ea typeface="Arial"/>
              <a:cs typeface="Arial"/>
              <a:sym typeface="Arial"/>
            </a:endParaRPr>
          </a:p>
        </p:txBody>
      </p:sp>
      <p:sp>
        <p:nvSpPr>
          <p:cNvPr id="142" name="Google Shape;142;p5"/>
          <p:cNvSpPr/>
          <p:nvPr/>
        </p:nvSpPr>
        <p:spPr>
          <a:xfrm>
            <a:off x="4750222" y="2434679"/>
            <a:ext cx="4292873" cy="1860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Orquestación y aislamiento de contenedores</a:t>
            </a:r>
            <a:endParaRPr b="0" i="0" sz="950" u="none" cap="none" strike="noStrike">
              <a:solidFill>
                <a:srgbClr val="000000"/>
              </a:solidFill>
              <a:latin typeface="Arial"/>
              <a:ea typeface="Arial"/>
              <a:cs typeface="Arial"/>
              <a:sym typeface="Arial"/>
            </a:endParaRPr>
          </a:p>
        </p:txBody>
      </p:sp>
      <p:pic>
        <p:nvPicPr>
          <p:cNvPr descr="preencoded.png" id="143" name="Google Shape;143;p5"/>
          <p:cNvPicPr preferRelativeResize="0"/>
          <p:nvPr/>
        </p:nvPicPr>
        <p:blipFill rotWithShape="1">
          <a:blip r:embed="rId3">
            <a:alphaModFix/>
          </a:blip>
          <a:srcRect b="0" l="0" r="0" t="0"/>
          <a:stretch/>
        </p:blipFill>
        <p:spPr>
          <a:xfrm>
            <a:off x="434132" y="3225254"/>
            <a:ext cx="4083621" cy="714375"/>
          </a:xfrm>
          <a:prstGeom prst="rect">
            <a:avLst/>
          </a:prstGeom>
          <a:noFill/>
          <a:ln>
            <a:noFill/>
          </a:ln>
        </p:spPr>
      </p:pic>
      <p:sp>
        <p:nvSpPr>
          <p:cNvPr id="144" name="Google Shape;144;p5"/>
          <p:cNvSpPr/>
          <p:nvPr/>
        </p:nvSpPr>
        <p:spPr>
          <a:xfrm>
            <a:off x="558105" y="3705820"/>
            <a:ext cx="2573759"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200"/>
              <a:buFont typeface="Fraunces"/>
              <a:buNone/>
            </a:pPr>
            <a:r>
              <a:rPr b="0" i="0" lang="en-US" sz="1200" u="none" cap="none" strike="noStrike">
                <a:solidFill>
                  <a:srgbClr val="EBECEF"/>
                </a:solidFill>
                <a:latin typeface="Fraunces"/>
                <a:ea typeface="Fraunces"/>
                <a:cs typeface="Fraunces"/>
                <a:sym typeface="Fraunces"/>
              </a:rPr>
              <a:t>20+ Contenedores Honeypot</a:t>
            </a:r>
            <a:endParaRPr b="0" i="0" sz="1200" u="none" cap="none" strike="noStrike">
              <a:solidFill>
                <a:srgbClr val="000000"/>
              </a:solidFill>
              <a:latin typeface="Arial"/>
              <a:ea typeface="Arial"/>
              <a:cs typeface="Arial"/>
              <a:sym typeface="Arial"/>
            </a:endParaRPr>
          </a:p>
        </p:txBody>
      </p:sp>
      <p:sp>
        <p:nvSpPr>
          <p:cNvPr id="145" name="Google Shape;145;p5"/>
          <p:cNvSpPr/>
          <p:nvPr/>
        </p:nvSpPr>
        <p:spPr>
          <a:xfrm>
            <a:off x="558105" y="3964781"/>
            <a:ext cx="4292873" cy="1860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Cowrie, Tanner, Dionaea, Conpot, etc.</a:t>
            </a:r>
            <a:endParaRPr b="0" i="0" sz="950" u="none" cap="none" strike="noStrike">
              <a:solidFill>
                <a:srgbClr val="000000"/>
              </a:solidFill>
              <a:latin typeface="Arial"/>
              <a:ea typeface="Arial"/>
              <a:cs typeface="Arial"/>
              <a:sym typeface="Arial"/>
            </a:endParaRPr>
          </a:p>
        </p:txBody>
      </p:sp>
      <p:pic>
        <p:nvPicPr>
          <p:cNvPr descr="preencoded.png" id="146" name="Google Shape;146;p5"/>
          <p:cNvPicPr preferRelativeResize="0"/>
          <p:nvPr/>
        </p:nvPicPr>
        <p:blipFill rotWithShape="1">
          <a:blip r:embed="rId3">
            <a:alphaModFix/>
          </a:blip>
          <a:srcRect b="0" l="0" r="0" t="0"/>
          <a:stretch/>
        </p:blipFill>
        <p:spPr>
          <a:xfrm>
            <a:off x="4626248" y="3039219"/>
            <a:ext cx="4083621" cy="714375"/>
          </a:xfrm>
          <a:prstGeom prst="rect">
            <a:avLst/>
          </a:prstGeom>
          <a:noFill/>
          <a:ln>
            <a:noFill/>
          </a:ln>
        </p:spPr>
      </p:pic>
      <p:sp>
        <p:nvSpPr>
          <p:cNvPr id="147" name="Google Shape;147;p5"/>
          <p:cNvSpPr/>
          <p:nvPr/>
        </p:nvSpPr>
        <p:spPr>
          <a:xfrm>
            <a:off x="4750222" y="3519785"/>
            <a:ext cx="20077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200"/>
              <a:buFont typeface="Fraunces"/>
              <a:buNone/>
            </a:pPr>
            <a:r>
              <a:rPr b="0" i="0" lang="en-US" sz="1200" u="none" cap="none" strike="noStrike">
                <a:solidFill>
                  <a:srgbClr val="EBECEF"/>
                </a:solidFill>
                <a:latin typeface="Fraunces"/>
                <a:ea typeface="Fraunces"/>
                <a:cs typeface="Fraunces"/>
                <a:sym typeface="Fraunces"/>
              </a:rPr>
              <a:t>ELK Stack</a:t>
            </a:r>
            <a:endParaRPr b="0" i="0" sz="1200" u="none" cap="none" strike="noStrike">
              <a:solidFill>
                <a:srgbClr val="000000"/>
              </a:solidFill>
              <a:latin typeface="Arial"/>
              <a:ea typeface="Arial"/>
              <a:cs typeface="Arial"/>
              <a:sym typeface="Arial"/>
            </a:endParaRPr>
          </a:p>
        </p:txBody>
      </p:sp>
      <p:sp>
        <p:nvSpPr>
          <p:cNvPr id="148" name="Google Shape;148;p5"/>
          <p:cNvSpPr/>
          <p:nvPr/>
        </p:nvSpPr>
        <p:spPr>
          <a:xfrm>
            <a:off x="4750222" y="3778746"/>
            <a:ext cx="4292873" cy="1860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Logstash → Elasticsearch → Kibana</a:t>
            </a:r>
            <a:endParaRPr b="0" i="0" sz="950" u="none" cap="none" strike="noStrike">
              <a:solidFill>
                <a:srgbClr val="000000"/>
              </a:solidFill>
              <a:latin typeface="Arial"/>
              <a:ea typeface="Arial"/>
              <a:cs typeface="Arial"/>
              <a:sym typeface="Arial"/>
            </a:endParaRPr>
          </a:p>
        </p:txBody>
      </p:sp>
      <p:sp>
        <p:nvSpPr>
          <p:cNvPr id="149" name="Google Shape;149;p5"/>
          <p:cNvSpPr/>
          <p:nvPr/>
        </p:nvSpPr>
        <p:spPr>
          <a:xfrm>
            <a:off x="434132" y="4396829"/>
            <a:ext cx="8275737" cy="37207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Cada contenedor simula un servicio real, captura el ataque completo y envía los logs normalizados al stack ELK para su análisis y visualización centralizada.</a:t>
            </a:r>
            <a:endParaRPr b="0" i="0" sz="95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6"/>
          <p:cNvSpPr/>
          <p:nvPr/>
        </p:nvSpPr>
        <p:spPr>
          <a:xfrm>
            <a:off x="434132" y="391195"/>
            <a:ext cx="1140172" cy="232842"/>
          </a:xfrm>
          <a:prstGeom prst="roundRect">
            <a:avLst>
              <a:gd fmla="val 17900" name="adj"/>
            </a:avLst>
          </a:prstGeom>
          <a:noFill/>
          <a:ln cap="flat" cmpd="sng" w="9525">
            <a:solidFill>
              <a:srgbClr val="8C98C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6"/>
          <p:cNvSpPr/>
          <p:nvPr/>
        </p:nvSpPr>
        <p:spPr>
          <a:xfrm>
            <a:off x="513308" y="433164"/>
            <a:ext cx="1439019" cy="14890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C98CA"/>
              </a:buClr>
              <a:buSzPts val="750"/>
              <a:buFont typeface="Epilogue"/>
              <a:buNone/>
            </a:pPr>
            <a:r>
              <a:rPr b="0" i="0" lang="en-US" sz="750" u="none" cap="none" strike="noStrike">
                <a:solidFill>
                  <a:srgbClr val="8C98CA"/>
                </a:solidFill>
                <a:latin typeface="Epilogue"/>
                <a:ea typeface="Epilogue"/>
                <a:cs typeface="Epilogue"/>
                <a:sym typeface="Epilogue"/>
              </a:rPr>
              <a:t>SENSORES HONEYPOT</a:t>
            </a:r>
            <a:endParaRPr b="0" i="0" sz="750" u="none" cap="none" strike="noStrike">
              <a:solidFill>
                <a:srgbClr val="000000"/>
              </a:solidFill>
              <a:latin typeface="Arial"/>
              <a:ea typeface="Arial"/>
              <a:cs typeface="Arial"/>
              <a:sym typeface="Arial"/>
            </a:endParaRPr>
          </a:p>
        </p:txBody>
      </p:sp>
      <p:sp>
        <p:nvSpPr>
          <p:cNvPr id="157" name="Google Shape;157;p6"/>
          <p:cNvSpPr/>
          <p:nvPr/>
        </p:nvSpPr>
        <p:spPr>
          <a:xfrm>
            <a:off x="434132" y="667420"/>
            <a:ext cx="8275737" cy="77509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400"/>
              <a:buFont typeface="Fraunces"/>
              <a:buNone/>
            </a:pPr>
            <a:r>
              <a:rPr b="0" i="0" lang="en-US" sz="2400" u="none" cap="none" strike="noStrike">
                <a:solidFill>
                  <a:srgbClr val="FFFFFF"/>
                </a:solidFill>
                <a:latin typeface="Fraunces"/>
                <a:ea typeface="Fraunces"/>
                <a:cs typeface="Fraunces"/>
                <a:sym typeface="Fraunces"/>
              </a:rPr>
              <a:t>20+ Honeypots: Cobertura Integral de Vectores de Ataque</a:t>
            </a:r>
            <a:endParaRPr b="0" i="0" sz="2400" u="none" cap="none" strike="noStrike">
              <a:solidFill>
                <a:srgbClr val="000000"/>
              </a:solidFill>
              <a:latin typeface="Arial"/>
              <a:ea typeface="Arial"/>
              <a:cs typeface="Arial"/>
              <a:sym typeface="Arial"/>
            </a:endParaRPr>
          </a:p>
        </p:txBody>
      </p:sp>
      <p:sp>
        <p:nvSpPr>
          <p:cNvPr id="158" name="Google Shape;158;p6"/>
          <p:cNvSpPr/>
          <p:nvPr/>
        </p:nvSpPr>
        <p:spPr>
          <a:xfrm>
            <a:off x="434132" y="1605260"/>
            <a:ext cx="8275737" cy="55810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950"/>
              <a:buFont typeface="Epilogue"/>
              <a:buNone/>
            </a:pPr>
            <a:r>
              <a:rPr b="1" i="0" lang="en-US" sz="950" u="none" cap="none" strike="noStrike">
                <a:solidFill>
                  <a:srgbClr val="EBECEF"/>
                </a:solidFill>
                <a:latin typeface="Epilogue"/>
                <a:ea typeface="Epilogue"/>
                <a:cs typeface="Epilogue"/>
                <a:sym typeface="Epilogue"/>
              </a:rPr>
              <a:t>T-Pot 24.04</a:t>
            </a:r>
            <a:r>
              <a:rPr b="0" i="0" lang="en-US" sz="950" u="none" cap="none" strike="noStrike">
                <a:solidFill>
                  <a:srgbClr val="EBECEF"/>
                </a:solidFill>
                <a:latin typeface="Epilogue"/>
                <a:ea typeface="Epilogue"/>
                <a:cs typeface="Epilogue"/>
                <a:sym typeface="Epilogue"/>
              </a:rPr>
              <a:t> soporta más de </a:t>
            </a:r>
            <a:r>
              <a:rPr b="1" i="0" lang="en-US" sz="950" u="none" cap="none" strike="noStrike">
                <a:solidFill>
                  <a:srgbClr val="EBECEF"/>
                </a:solidFill>
                <a:latin typeface="Epilogue"/>
                <a:ea typeface="Epilogue"/>
                <a:cs typeface="Epilogue"/>
                <a:sym typeface="Epilogue"/>
              </a:rPr>
              <a:t>20 honeypots diferentes</a:t>
            </a:r>
            <a:r>
              <a:rPr b="0" i="0" lang="en-US" sz="950" u="none" cap="none" strike="noStrike">
                <a:solidFill>
                  <a:srgbClr val="EBECEF"/>
                </a:solidFill>
                <a:latin typeface="Epilogue"/>
                <a:ea typeface="Epilogue"/>
                <a:cs typeface="Epilogue"/>
                <a:sym typeface="Epilogue"/>
              </a:rPr>
              <a:t>, no solo 4. Los cuatro principales — </a:t>
            </a:r>
            <a:r>
              <a:rPr b="1" i="0" lang="en-US" sz="950" u="none" cap="none" strike="noStrike">
                <a:solidFill>
                  <a:srgbClr val="EBECEF"/>
                </a:solidFill>
                <a:latin typeface="Epilogue"/>
                <a:ea typeface="Epilogue"/>
                <a:cs typeface="Epilogue"/>
                <a:sym typeface="Epilogue"/>
              </a:rPr>
              <a:t>Cowrie</a:t>
            </a:r>
            <a:r>
              <a:rPr b="0" i="0" lang="en-US" sz="950" u="none" cap="none" strike="noStrike">
                <a:solidFill>
                  <a:srgbClr val="EBECEF"/>
                </a:solidFill>
                <a:latin typeface="Epilogue"/>
                <a:ea typeface="Epilogue"/>
                <a:cs typeface="Epilogue"/>
                <a:sym typeface="Epilogue"/>
              </a:rPr>
              <a:t>, </a:t>
            </a:r>
            <a:r>
              <a:rPr b="1" i="0" lang="en-US" sz="950" u="none" cap="none" strike="noStrike">
                <a:solidFill>
                  <a:srgbClr val="EBECEF"/>
                </a:solidFill>
                <a:latin typeface="Epilogue"/>
                <a:ea typeface="Epilogue"/>
                <a:cs typeface="Epilogue"/>
                <a:sym typeface="Epilogue"/>
              </a:rPr>
              <a:t>Tanner</a:t>
            </a:r>
            <a:r>
              <a:rPr b="0" i="0" lang="en-US" sz="950" u="none" cap="none" strike="noStrike">
                <a:solidFill>
                  <a:srgbClr val="EBECEF"/>
                </a:solidFill>
                <a:latin typeface="Epilogue"/>
                <a:ea typeface="Epilogue"/>
                <a:cs typeface="Epilogue"/>
                <a:sym typeface="Epilogue"/>
              </a:rPr>
              <a:t>, </a:t>
            </a:r>
            <a:r>
              <a:rPr b="1" i="0" lang="en-US" sz="950" u="none" cap="none" strike="noStrike">
                <a:solidFill>
                  <a:srgbClr val="EBECEF"/>
                </a:solidFill>
                <a:latin typeface="Epilogue"/>
                <a:ea typeface="Epilogue"/>
                <a:cs typeface="Epilogue"/>
                <a:sym typeface="Epilogue"/>
              </a:rPr>
              <a:t>Dionaea</a:t>
            </a:r>
            <a:r>
              <a:rPr b="0" i="0" lang="en-US" sz="950" u="none" cap="none" strike="noStrike">
                <a:solidFill>
                  <a:srgbClr val="EBECEF"/>
                </a:solidFill>
                <a:latin typeface="Epilogue"/>
                <a:ea typeface="Epilogue"/>
                <a:cs typeface="Epilogue"/>
                <a:sym typeface="Epilogue"/>
              </a:rPr>
              <a:t> y </a:t>
            </a:r>
            <a:r>
              <a:rPr b="1" i="0" lang="en-US" sz="950" u="none" cap="none" strike="noStrike">
                <a:solidFill>
                  <a:srgbClr val="EBECEF"/>
                </a:solidFill>
                <a:latin typeface="Epilogue"/>
                <a:ea typeface="Epilogue"/>
                <a:cs typeface="Epilogue"/>
                <a:sym typeface="Epilogue"/>
              </a:rPr>
              <a:t>Conpot</a:t>
            </a:r>
            <a:r>
              <a:rPr b="0" i="0" lang="en-US" sz="950" u="none" cap="none" strike="noStrike">
                <a:solidFill>
                  <a:srgbClr val="EBECEF"/>
                </a:solidFill>
                <a:latin typeface="Epilogue"/>
                <a:ea typeface="Epilogue"/>
                <a:cs typeface="Epilogue"/>
                <a:sym typeface="Epilogue"/>
              </a:rPr>
              <a:t> — sirven como ejemplos destacados, pero la plataforma también incluye opciones como </a:t>
            </a:r>
            <a:r>
              <a:rPr b="1" i="0" lang="en-US" sz="950" u="none" cap="none" strike="noStrike">
                <a:solidFill>
                  <a:srgbClr val="EBECEF"/>
                </a:solidFill>
                <a:latin typeface="Epilogue"/>
                <a:ea typeface="Epilogue"/>
                <a:cs typeface="Epilogue"/>
                <a:sym typeface="Epilogue"/>
              </a:rPr>
              <a:t>Heralding</a:t>
            </a:r>
            <a:r>
              <a:rPr b="0" i="0" lang="en-US" sz="950" u="none" cap="none" strike="noStrike">
                <a:solidFill>
                  <a:srgbClr val="EBECEF"/>
                </a:solidFill>
                <a:latin typeface="Epilogue"/>
                <a:ea typeface="Epilogue"/>
                <a:cs typeface="Epilogue"/>
                <a:sym typeface="Epilogue"/>
              </a:rPr>
              <a:t>, </a:t>
            </a:r>
            <a:r>
              <a:rPr b="1" i="0" lang="en-US" sz="950" u="none" cap="none" strike="noStrike">
                <a:solidFill>
                  <a:srgbClr val="EBECEF"/>
                </a:solidFill>
                <a:latin typeface="Epilogue"/>
                <a:ea typeface="Epilogue"/>
                <a:cs typeface="Epilogue"/>
                <a:sym typeface="Epilogue"/>
              </a:rPr>
              <a:t>Elasticpot</a:t>
            </a:r>
            <a:r>
              <a:rPr b="0" i="0" lang="en-US" sz="950" u="none" cap="none" strike="noStrike">
                <a:solidFill>
                  <a:srgbClr val="EBECEF"/>
                </a:solidFill>
                <a:latin typeface="Epilogue"/>
                <a:ea typeface="Epilogue"/>
                <a:cs typeface="Epilogue"/>
                <a:sym typeface="Epilogue"/>
              </a:rPr>
              <a:t>, </a:t>
            </a:r>
            <a:r>
              <a:rPr b="1" i="0" lang="en-US" sz="950" u="none" cap="none" strike="noStrike">
                <a:solidFill>
                  <a:srgbClr val="EBECEF"/>
                </a:solidFill>
                <a:latin typeface="Epilogue"/>
                <a:ea typeface="Epilogue"/>
                <a:cs typeface="Epilogue"/>
                <a:sym typeface="Epilogue"/>
              </a:rPr>
              <a:t>Honeytrap</a:t>
            </a:r>
            <a:r>
              <a:rPr b="0" i="0" lang="en-US" sz="950" u="none" cap="none" strike="noStrike">
                <a:solidFill>
                  <a:srgbClr val="EBECEF"/>
                </a:solidFill>
                <a:latin typeface="Epilogue"/>
                <a:ea typeface="Epilogue"/>
                <a:cs typeface="Epilogue"/>
                <a:sym typeface="Epilogue"/>
              </a:rPr>
              <a:t>, </a:t>
            </a:r>
            <a:r>
              <a:rPr b="1" i="0" lang="en-US" sz="950" u="none" cap="none" strike="noStrike">
                <a:solidFill>
                  <a:srgbClr val="EBECEF"/>
                </a:solidFill>
                <a:latin typeface="Epilogue"/>
                <a:ea typeface="Epilogue"/>
                <a:cs typeface="Epilogue"/>
                <a:sym typeface="Epilogue"/>
              </a:rPr>
              <a:t>Mailoney</a:t>
            </a:r>
            <a:r>
              <a:rPr b="0" i="0" lang="en-US" sz="950" u="none" cap="none" strike="noStrike">
                <a:solidFill>
                  <a:srgbClr val="EBECEF"/>
                </a:solidFill>
                <a:latin typeface="Epilogue"/>
                <a:ea typeface="Epilogue"/>
                <a:cs typeface="Epilogue"/>
                <a:sym typeface="Epilogue"/>
              </a:rPr>
              <a:t> y muchas más.</a:t>
            </a:r>
            <a:endParaRPr b="0" i="0" sz="950" u="none" cap="none" strike="noStrike">
              <a:solidFill>
                <a:srgbClr val="000000"/>
              </a:solidFill>
              <a:latin typeface="Arial"/>
              <a:ea typeface="Arial"/>
              <a:cs typeface="Arial"/>
              <a:sym typeface="Arial"/>
            </a:endParaRPr>
          </a:p>
        </p:txBody>
      </p:sp>
      <p:pic>
        <p:nvPicPr>
          <p:cNvPr descr="preencoded.png" id="159" name="Google Shape;159;p6"/>
          <p:cNvPicPr preferRelativeResize="0"/>
          <p:nvPr/>
        </p:nvPicPr>
        <p:blipFill rotWithShape="1">
          <a:blip r:embed="rId3">
            <a:alphaModFix/>
          </a:blip>
          <a:srcRect b="0" l="0" r="0" t="0"/>
          <a:stretch/>
        </p:blipFill>
        <p:spPr>
          <a:xfrm>
            <a:off x="434132" y="2285405"/>
            <a:ext cx="865510" cy="534888"/>
          </a:xfrm>
          <a:prstGeom prst="rect">
            <a:avLst/>
          </a:prstGeom>
          <a:noFill/>
          <a:ln>
            <a:noFill/>
          </a:ln>
        </p:spPr>
      </p:pic>
      <p:sp>
        <p:nvSpPr>
          <p:cNvPr id="160" name="Google Shape;160;p6"/>
          <p:cNvSpPr/>
          <p:nvPr/>
        </p:nvSpPr>
        <p:spPr>
          <a:xfrm>
            <a:off x="434132" y="2955950"/>
            <a:ext cx="20077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200"/>
              <a:buFont typeface="Fraunces"/>
              <a:buNone/>
            </a:pPr>
            <a:r>
              <a:rPr b="0" i="0" lang="en-US" sz="1200" u="none" cap="none" strike="noStrike">
                <a:solidFill>
                  <a:srgbClr val="EBECEF"/>
                </a:solidFill>
                <a:latin typeface="Fraunces"/>
                <a:ea typeface="Fraunces"/>
                <a:cs typeface="Fraunces"/>
                <a:sym typeface="Fraunces"/>
              </a:rPr>
              <a:t>Cowrie</a:t>
            </a:r>
            <a:endParaRPr b="0" i="0" sz="1200" u="none" cap="none" strike="noStrike">
              <a:solidFill>
                <a:srgbClr val="000000"/>
              </a:solidFill>
              <a:latin typeface="Arial"/>
              <a:ea typeface="Arial"/>
              <a:cs typeface="Arial"/>
              <a:sym typeface="Arial"/>
            </a:endParaRPr>
          </a:p>
        </p:txBody>
      </p:sp>
      <p:sp>
        <p:nvSpPr>
          <p:cNvPr id="161" name="Google Shape;161;p6"/>
          <p:cNvSpPr/>
          <p:nvPr/>
        </p:nvSpPr>
        <p:spPr>
          <a:xfrm>
            <a:off x="434132" y="3214911"/>
            <a:ext cx="1967136" cy="93017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Simula SSH y Telnet. Captura </a:t>
            </a:r>
            <a:r>
              <a:rPr b="1" i="0" lang="en-US" sz="950" u="none" cap="none" strike="noStrike">
                <a:solidFill>
                  <a:srgbClr val="EBECEF"/>
                </a:solidFill>
                <a:latin typeface="Epilogue"/>
                <a:ea typeface="Epilogue"/>
                <a:cs typeface="Epilogue"/>
                <a:sym typeface="Epilogue"/>
              </a:rPr>
              <a:t>ataques de fuerza bruta</a:t>
            </a:r>
            <a:r>
              <a:rPr b="0" i="0" lang="en-US" sz="950" u="none" cap="none" strike="noStrike">
                <a:solidFill>
                  <a:srgbClr val="EBECEF"/>
                </a:solidFill>
                <a:latin typeface="Epilogue"/>
                <a:ea typeface="Epilogue"/>
                <a:cs typeface="Epilogue"/>
                <a:sym typeface="Epilogue"/>
              </a:rPr>
              <a:t>, credenciales robadas y sesiones interactivas de atacantes.</a:t>
            </a:r>
            <a:endParaRPr b="0" i="0" sz="950" u="none" cap="none" strike="noStrike">
              <a:solidFill>
                <a:srgbClr val="000000"/>
              </a:solidFill>
              <a:latin typeface="Arial"/>
              <a:ea typeface="Arial"/>
              <a:cs typeface="Arial"/>
              <a:sym typeface="Arial"/>
            </a:endParaRPr>
          </a:p>
        </p:txBody>
      </p:sp>
      <p:pic>
        <p:nvPicPr>
          <p:cNvPr descr="preencoded.png" id="162" name="Google Shape;162;p6"/>
          <p:cNvPicPr preferRelativeResize="0"/>
          <p:nvPr/>
        </p:nvPicPr>
        <p:blipFill rotWithShape="1">
          <a:blip r:embed="rId4">
            <a:alphaModFix/>
          </a:blip>
          <a:srcRect b="0" l="0" r="0" t="0"/>
          <a:stretch/>
        </p:blipFill>
        <p:spPr>
          <a:xfrm>
            <a:off x="2536924" y="2285405"/>
            <a:ext cx="865510" cy="534888"/>
          </a:xfrm>
          <a:prstGeom prst="rect">
            <a:avLst/>
          </a:prstGeom>
          <a:noFill/>
          <a:ln>
            <a:noFill/>
          </a:ln>
        </p:spPr>
      </p:pic>
      <p:sp>
        <p:nvSpPr>
          <p:cNvPr id="163" name="Google Shape;163;p6"/>
          <p:cNvSpPr/>
          <p:nvPr/>
        </p:nvSpPr>
        <p:spPr>
          <a:xfrm>
            <a:off x="2536924" y="2955950"/>
            <a:ext cx="20077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200"/>
              <a:buFont typeface="Fraunces"/>
              <a:buNone/>
            </a:pPr>
            <a:r>
              <a:rPr b="0" i="0" lang="en-US" sz="1200" u="none" cap="none" strike="noStrike">
                <a:solidFill>
                  <a:srgbClr val="EBECEF"/>
                </a:solidFill>
                <a:latin typeface="Fraunces"/>
                <a:ea typeface="Fraunces"/>
                <a:cs typeface="Fraunces"/>
                <a:sym typeface="Fraunces"/>
              </a:rPr>
              <a:t>Tanner</a:t>
            </a:r>
            <a:endParaRPr b="0" i="0" sz="1200" u="none" cap="none" strike="noStrike">
              <a:solidFill>
                <a:srgbClr val="000000"/>
              </a:solidFill>
              <a:latin typeface="Arial"/>
              <a:ea typeface="Arial"/>
              <a:cs typeface="Arial"/>
              <a:sym typeface="Arial"/>
            </a:endParaRPr>
          </a:p>
        </p:txBody>
      </p:sp>
      <p:sp>
        <p:nvSpPr>
          <p:cNvPr id="164" name="Google Shape;164;p6"/>
          <p:cNvSpPr/>
          <p:nvPr/>
        </p:nvSpPr>
        <p:spPr>
          <a:xfrm>
            <a:off x="2536924" y="3214911"/>
            <a:ext cx="1967210" cy="93017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Honeypot web de alta interacción. Simula un </a:t>
            </a:r>
            <a:r>
              <a:rPr b="1" i="0" lang="en-US" sz="950" u="none" cap="none" strike="noStrike">
                <a:solidFill>
                  <a:srgbClr val="EBECEF"/>
                </a:solidFill>
                <a:latin typeface="Epilogue"/>
                <a:ea typeface="Epilogue"/>
                <a:cs typeface="Epilogue"/>
                <a:sym typeface="Epilogue"/>
              </a:rPr>
              <a:t>PMS hotelero</a:t>
            </a:r>
            <a:r>
              <a:rPr b="0" i="0" lang="en-US" sz="950" u="none" cap="none" strike="noStrike">
                <a:solidFill>
                  <a:srgbClr val="EBECEF"/>
                </a:solidFill>
                <a:latin typeface="Epilogue"/>
                <a:ea typeface="Epilogue"/>
                <a:cs typeface="Epilogue"/>
                <a:sym typeface="Epilogue"/>
              </a:rPr>
              <a:t> real para capturar exploits contra aplicaciones turísticas.</a:t>
            </a:r>
            <a:endParaRPr b="0" i="0" sz="950" u="none" cap="none" strike="noStrike">
              <a:solidFill>
                <a:srgbClr val="000000"/>
              </a:solidFill>
              <a:latin typeface="Arial"/>
              <a:ea typeface="Arial"/>
              <a:cs typeface="Arial"/>
              <a:sym typeface="Arial"/>
            </a:endParaRPr>
          </a:p>
        </p:txBody>
      </p:sp>
      <p:pic>
        <p:nvPicPr>
          <p:cNvPr descr="preencoded.png" id="165" name="Google Shape;165;p6"/>
          <p:cNvPicPr preferRelativeResize="0"/>
          <p:nvPr/>
        </p:nvPicPr>
        <p:blipFill rotWithShape="1">
          <a:blip r:embed="rId5">
            <a:alphaModFix/>
          </a:blip>
          <a:srcRect b="0" l="0" r="0" t="0"/>
          <a:stretch/>
        </p:blipFill>
        <p:spPr>
          <a:xfrm>
            <a:off x="4639791" y="2285405"/>
            <a:ext cx="865510" cy="534888"/>
          </a:xfrm>
          <a:prstGeom prst="rect">
            <a:avLst/>
          </a:prstGeom>
          <a:noFill/>
          <a:ln>
            <a:noFill/>
          </a:ln>
        </p:spPr>
      </p:pic>
      <p:sp>
        <p:nvSpPr>
          <p:cNvPr id="166" name="Google Shape;166;p6"/>
          <p:cNvSpPr/>
          <p:nvPr/>
        </p:nvSpPr>
        <p:spPr>
          <a:xfrm>
            <a:off x="4639791" y="2955950"/>
            <a:ext cx="20077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200"/>
              <a:buFont typeface="Fraunces"/>
              <a:buNone/>
            </a:pPr>
            <a:r>
              <a:rPr b="0" i="0" lang="en-US" sz="1200" u="none" cap="none" strike="noStrike">
                <a:solidFill>
                  <a:srgbClr val="EBECEF"/>
                </a:solidFill>
                <a:latin typeface="Fraunces"/>
                <a:ea typeface="Fraunces"/>
                <a:cs typeface="Fraunces"/>
                <a:sym typeface="Fraunces"/>
              </a:rPr>
              <a:t>Dionaea</a:t>
            </a:r>
            <a:endParaRPr b="0" i="0" sz="1200" u="none" cap="none" strike="noStrike">
              <a:solidFill>
                <a:srgbClr val="000000"/>
              </a:solidFill>
              <a:latin typeface="Arial"/>
              <a:ea typeface="Arial"/>
              <a:cs typeface="Arial"/>
              <a:sym typeface="Arial"/>
            </a:endParaRPr>
          </a:p>
        </p:txBody>
      </p:sp>
      <p:sp>
        <p:nvSpPr>
          <p:cNvPr id="167" name="Google Shape;167;p6"/>
          <p:cNvSpPr/>
          <p:nvPr/>
        </p:nvSpPr>
        <p:spPr>
          <a:xfrm>
            <a:off x="4639791" y="3214911"/>
            <a:ext cx="1967210" cy="7441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Captura y almacena </a:t>
            </a:r>
            <a:r>
              <a:rPr b="1" i="0" lang="en-US" sz="950" u="none" cap="none" strike="noStrike">
                <a:solidFill>
                  <a:srgbClr val="EBECEF"/>
                </a:solidFill>
                <a:latin typeface="Epilogue"/>
                <a:ea typeface="Epilogue"/>
                <a:cs typeface="Epilogue"/>
                <a:sym typeface="Epilogue"/>
              </a:rPr>
              <a:t>malware descargado</a:t>
            </a:r>
            <a:r>
              <a:rPr b="0" i="0" lang="en-US" sz="950" u="none" cap="none" strike="noStrike">
                <a:solidFill>
                  <a:srgbClr val="EBECEF"/>
                </a:solidFill>
                <a:latin typeface="Epilogue"/>
                <a:ea typeface="Epilogue"/>
                <a:cs typeface="Epilogue"/>
                <a:sym typeface="Epilogue"/>
              </a:rPr>
              <a:t> por los atacantes, permitiendo análisis forense posterior.</a:t>
            </a:r>
            <a:endParaRPr b="0" i="0" sz="950" u="none" cap="none" strike="noStrike">
              <a:solidFill>
                <a:srgbClr val="000000"/>
              </a:solidFill>
              <a:latin typeface="Arial"/>
              <a:ea typeface="Arial"/>
              <a:cs typeface="Arial"/>
              <a:sym typeface="Arial"/>
            </a:endParaRPr>
          </a:p>
        </p:txBody>
      </p:sp>
      <p:pic>
        <p:nvPicPr>
          <p:cNvPr descr="preencoded.png" id="168" name="Google Shape;168;p6"/>
          <p:cNvPicPr preferRelativeResize="0"/>
          <p:nvPr/>
        </p:nvPicPr>
        <p:blipFill rotWithShape="1">
          <a:blip r:embed="rId6">
            <a:alphaModFix/>
          </a:blip>
          <a:srcRect b="0" l="0" r="0" t="0"/>
          <a:stretch/>
        </p:blipFill>
        <p:spPr>
          <a:xfrm>
            <a:off x="6742658" y="2285405"/>
            <a:ext cx="865510" cy="534888"/>
          </a:xfrm>
          <a:prstGeom prst="rect">
            <a:avLst/>
          </a:prstGeom>
          <a:noFill/>
          <a:ln>
            <a:noFill/>
          </a:ln>
        </p:spPr>
      </p:pic>
      <p:sp>
        <p:nvSpPr>
          <p:cNvPr id="169" name="Google Shape;169;p6"/>
          <p:cNvSpPr/>
          <p:nvPr/>
        </p:nvSpPr>
        <p:spPr>
          <a:xfrm>
            <a:off x="6742658" y="2955950"/>
            <a:ext cx="20077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200"/>
              <a:buFont typeface="Fraunces"/>
              <a:buNone/>
            </a:pPr>
            <a:r>
              <a:rPr b="0" i="0" lang="en-US" sz="1200" u="none" cap="none" strike="noStrike">
                <a:solidFill>
                  <a:srgbClr val="EBECEF"/>
                </a:solidFill>
                <a:latin typeface="Fraunces"/>
                <a:ea typeface="Fraunces"/>
                <a:cs typeface="Fraunces"/>
                <a:sym typeface="Fraunces"/>
              </a:rPr>
              <a:t>Conpot</a:t>
            </a:r>
            <a:endParaRPr b="0" i="0" sz="1200" u="none" cap="none" strike="noStrike">
              <a:solidFill>
                <a:srgbClr val="000000"/>
              </a:solidFill>
              <a:latin typeface="Arial"/>
              <a:ea typeface="Arial"/>
              <a:cs typeface="Arial"/>
              <a:sym typeface="Arial"/>
            </a:endParaRPr>
          </a:p>
        </p:txBody>
      </p:sp>
      <p:sp>
        <p:nvSpPr>
          <p:cNvPr id="170" name="Google Shape;170;p6"/>
          <p:cNvSpPr/>
          <p:nvPr/>
        </p:nvSpPr>
        <p:spPr>
          <a:xfrm>
            <a:off x="6742658" y="3214911"/>
            <a:ext cx="1967210" cy="7441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Simula dispositivos </a:t>
            </a:r>
            <a:r>
              <a:rPr b="1" i="0" lang="en-US" sz="950" u="none" cap="none" strike="noStrike">
                <a:solidFill>
                  <a:srgbClr val="EBECEF"/>
                </a:solidFill>
                <a:latin typeface="Epilogue"/>
                <a:ea typeface="Epilogue"/>
                <a:cs typeface="Epilogue"/>
                <a:sym typeface="Epilogue"/>
              </a:rPr>
              <a:t>IoT y domótica</a:t>
            </a:r>
            <a:r>
              <a:rPr b="0" i="0" lang="en-US" sz="950" u="none" cap="none" strike="noStrike">
                <a:solidFill>
                  <a:srgbClr val="EBECEF"/>
                </a:solidFill>
                <a:latin typeface="Epilogue"/>
                <a:ea typeface="Epilogue"/>
                <a:cs typeface="Epilogue"/>
                <a:sym typeface="Epilogue"/>
              </a:rPr>
              <a:t> (SCADA, PLCs), vector creciente en infraestructuras hoteleras inteligentes.</a:t>
            </a:r>
            <a:endParaRPr b="0" i="0" sz="950" u="none" cap="none" strike="noStrike">
              <a:solidFill>
                <a:srgbClr val="000000"/>
              </a:solidFill>
              <a:latin typeface="Arial"/>
              <a:ea typeface="Arial"/>
              <a:cs typeface="Arial"/>
              <a:sym typeface="Arial"/>
            </a:endParaRPr>
          </a:p>
        </p:txBody>
      </p:sp>
      <p:sp>
        <p:nvSpPr>
          <p:cNvPr id="171" name="Google Shape;171;p6"/>
          <p:cNvSpPr/>
          <p:nvPr/>
        </p:nvSpPr>
        <p:spPr>
          <a:xfrm>
            <a:off x="434132" y="4267126"/>
            <a:ext cx="8275737" cy="485105"/>
          </a:xfrm>
          <a:prstGeom prst="roundRect">
            <a:avLst>
              <a:gd fmla="val 10740" name="adj"/>
            </a:avLst>
          </a:prstGeom>
          <a:solidFill>
            <a:srgbClr val="0223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2" name="Google Shape;172;p6"/>
          <p:cNvPicPr preferRelativeResize="0"/>
          <p:nvPr/>
        </p:nvPicPr>
        <p:blipFill rotWithShape="1">
          <a:blip r:embed="rId7">
            <a:alphaModFix/>
          </a:blip>
          <a:srcRect b="0" l="0" r="0" t="0"/>
          <a:stretch/>
        </p:blipFill>
        <p:spPr>
          <a:xfrm>
            <a:off x="558105" y="4442147"/>
            <a:ext cx="155004" cy="123974"/>
          </a:xfrm>
          <a:prstGeom prst="rect">
            <a:avLst/>
          </a:prstGeom>
          <a:noFill/>
          <a:ln>
            <a:noFill/>
          </a:ln>
        </p:spPr>
      </p:pic>
      <p:sp>
        <p:nvSpPr>
          <p:cNvPr id="173" name="Google Shape;173;p6"/>
          <p:cNvSpPr/>
          <p:nvPr/>
        </p:nvSpPr>
        <p:spPr>
          <a:xfrm>
            <a:off x="837084" y="4406578"/>
            <a:ext cx="8206011" cy="1860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950"/>
              <a:buFont typeface="Epilogue"/>
              <a:buNone/>
            </a:pPr>
            <a:r>
              <a:rPr b="0" i="0" lang="en-US" sz="950" u="none" cap="none" strike="noStrike">
                <a:solidFill>
                  <a:srgbClr val="FFFFFF"/>
                </a:solidFill>
                <a:latin typeface="Epilogue"/>
                <a:ea typeface="Epilogue"/>
                <a:cs typeface="Epilogue"/>
                <a:sym typeface="Epilogue"/>
              </a:rPr>
              <a:t>Más de 16 honeypots adicionales configurables según necesidades del sector turístico.</a:t>
            </a:r>
            <a:endParaRPr b="0" i="0" sz="95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7"/>
          <p:cNvSpPr/>
          <p:nvPr/>
        </p:nvSpPr>
        <p:spPr>
          <a:xfrm>
            <a:off x="903759" y="312762"/>
            <a:ext cx="623441" cy="192286"/>
          </a:xfrm>
          <a:prstGeom prst="roundRect">
            <a:avLst>
              <a:gd fmla="val 18579" name="adj"/>
            </a:avLst>
          </a:prstGeom>
          <a:noFill/>
          <a:ln cap="flat" cmpd="sng" w="9525">
            <a:solidFill>
              <a:srgbClr val="8C98C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7"/>
          <p:cNvSpPr/>
          <p:nvPr/>
        </p:nvSpPr>
        <p:spPr>
          <a:xfrm>
            <a:off x="972294" y="349374"/>
            <a:ext cx="943570" cy="119063"/>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8C98CA"/>
              </a:buClr>
              <a:buSzPts val="650"/>
              <a:buFont typeface="Epilogue"/>
              <a:buNone/>
            </a:pPr>
            <a:r>
              <a:rPr b="0" i="0" lang="en-US" sz="650" u="none" cap="none" strike="noStrike">
                <a:solidFill>
                  <a:srgbClr val="8C98CA"/>
                </a:solidFill>
                <a:latin typeface="Epilogue"/>
                <a:ea typeface="Epilogue"/>
                <a:cs typeface="Epilogue"/>
                <a:sym typeface="Epilogue"/>
              </a:rPr>
              <a:t>RESULTADOS</a:t>
            </a:r>
            <a:endParaRPr b="0" i="0" sz="650" u="none" cap="none" strike="noStrike">
              <a:solidFill>
                <a:srgbClr val="000000"/>
              </a:solidFill>
              <a:latin typeface="Arial"/>
              <a:ea typeface="Arial"/>
              <a:cs typeface="Arial"/>
              <a:sym typeface="Arial"/>
            </a:endParaRPr>
          </a:p>
        </p:txBody>
      </p:sp>
      <p:sp>
        <p:nvSpPr>
          <p:cNvPr id="181" name="Google Shape;181;p7"/>
          <p:cNvSpPr/>
          <p:nvPr/>
        </p:nvSpPr>
        <p:spPr>
          <a:xfrm>
            <a:off x="903759" y="536897"/>
            <a:ext cx="6489948" cy="33225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050"/>
              <a:buFont typeface="Fraunces"/>
              <a:buNone/>
            </a:pPr>
            <a:r>
              <a:rPr b="0" i="0" lang="en-US" sz="2050" u="none" cap="none" strike="noStrike">
                <a:solidFill>
                  <a:srgbClr val="FFFFFF"/>
                </a:solidFill>
                <a:latin typeface="Fraunces"/>
                <a:ea typeface="Fraunces"/>
                <a:cs typeface="Fraunces"/>
                <a:sym typeface="Fraunces"/>
              </a:rPr>
              <a:t>Evidencia Operativa: Datos Reales de Amenazas</a:t>
            </a:r>
            <a:endParaRPr b="0" i="0" sz="2050" u="none" cap="none" strike="noStrike">
              <a:solidFill>
                <a:srgbClr val="000000"/>
              </a:solidFill>
              <a:latin typeface="Arial"/>
              <a:ea typeface="Arial"/>
              <a:cs typeface="Arial"/>
              <a:sym typeface="Arial"/>
            </a:endParaRPr>
          </a:p>
        </p:txBody>
      </p:sp>
      <p:sp>
        <p:nvSpPr>
          <p:cNvPr id="182" name="Google Shape;182;p7"/>
          <p:cNvSpPr/>
          <p:nvPr/>
        </p:nvSpPr>
        <p:spPr>
          <a:xfrm>
            <a:off x="903759" y="988740"/>
            <a:ext cx="7336408" cy="297656"/>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EBECEF"/>
              </a:buClr>
              <a:buSzPts val="800"/>
              <a:buFont typeface="Epilogue"/>
              <a:buNone/>
            </a:pPr>
            <a:r>
              <a:rPr b="0" i="0" lang="en-US" sz="800" u="none" cap="none" strike="noStrike">
                <a:solidFill>
                  <a:srgbClr val="EBECEF"/>
                </a:solidFill>
                <a:latin typeface="Epilogue"/>
                <a:ea typeface="Epilogue"/>
                <a:cs typeface="Epilogue"/>
                <a:sym typeface="Epilogue"/>
              </a:rPr>
              <a:t>La plataforma T-Pot en Oracle Cloud Infrastructure está plenamente operativa, capturando y analizando ataques en tiempo real. Estos dashboards de Kibana demuestran la inteligencia de amenazas generada y los logs detallados de los incidentes.</a:t>
            </a:r>
            <a:endParaRPr b="0" i="0" sz="800" u="none" cap="none" strike="noStrike">
              <a:solidFill>
                <a:srgbClr val="000000"/>
              </a:solidFill>
              <a:latin typeface="Arial"/>
              <a:ea typeface="Arial"/>
              <a:cs typeface="Arial"/>
              <a:sym typeface="Arial"/>
            </a:endParaRPr>
          </a:p>
        </p:txBody>
      </p:sp>
      <p:pic>
        <p:nvPicPr>
          <p:cNvPr descr="preencoded.png" id="183" name="Google Shape;183;p7"/>
          <p:cNvPicPr preferRelativeResize="0"/>
          <p:nvPr/>
        </p:nvPicPr>
        <p:blipFill rotWithShape="1">
          <a:blip r:embed="rId3">
            <a:alphaModFix/>
          </a:blip>
          <a:srcRect b="0" l="0" r="0" t="0"/>
          <a:stretch/>
        </p:blipFill>
        <p:spPr>
          <a:xfrm>
            <a:off x="903759" y="1376065"/>
            <a:ext cx="7336408" cy="3067348"/>
          </a:xfrm>
          <a:prstGeom prst="rect">
            <a:avLst/>
          </a:prstGeom>
          <a:noFill/>
          <a:ln>
            <a:noFill/>
          </a:ln>
        </p:spPr>
      </p:pic>
      <p:sp>
        <p:nvSpPr>
          <p:cNvPr id="184" name="Google Shape;184;p7"/>
          <p:cNvSpPr/>
          <p:nvPr/>
        </p:nvSpPr>
        <p:spPr>
          <a:xfrm>
            <a:off x="903759" y="4533081"/>
            <a:ext cx="7336408" cy="297656"/>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EBECEF"/>
              </a:buClr>
              <a:buSzPts val="800"/>
              <a:buFont typeface="Epilogue"/>
              <a:buNone/>
            </a:pPr>
            <a:r>
              <a:rPr b="0" i="0" lang="en-US" sz="800" u="none" cap="none" strike="noStrike">
                <a:solidFill>
                  <a:srgbClr val="EBECEF"/>
                </a:solidFill>
                <a:latin typeface="Epilogue"/>
                <a:ea typeface="Epilogue"/>
                <a:cs typeface="Epilogue"/>
                <a:sym typeface="Epilogue"/>
              </a:rPr>
              <a:t>Cada visualización ofrece información crítica para entender el comportamiento de los atacantes y fortalecer las defensas contra futuras intrusiones, transformando los datos brutos en inteligencia actionable.</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8"/>
          <p:cNvSpPr/>
          <p:nvPr/>
        </p:nvSpPr>
        <p:spPr>
          <a:xfrm>
            <a:off x="434132" y="354211"/>
            <a:ext cx="629394" cy="232842"/>
          </a:xfrm>
          <a:prstGeom prst="roundRect">
            <a:avLst>
              <a:gd fmla="val 17900" name="adj"/>
            </a:avLst>
          </a:prstGeom>
          <a:noFill/>
          <a:ln cap="flat" cmpd="sng" w="9525">
            <a:solidFill>
              <a:srgbClr val="8C98C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8"/>
          <p:cNvSpPr/>
          <p:nvPr/>
        </p:nvSpPr>
        <p:spPr>
          <a:xfrm>
            <a:off x="513308" y="396180"/>
            <a:ext cx="928241" cy="14890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C98CA"/>
              </a:buClr>
              <a:buSzPts val="750"/>
              <a:buFont typeface="Epilogue"/>
              <a:buNone/>
            </a:pPr>
            <a:r>
              <a:rPr b="0" i="0" lang="en-US" sz="750" u="none" cap="none" strike="noStrike">
                <a:solidFill>
                  <a:srgbClr val="8C98CA"/>
                </a:solidFill>
                <a:latin typeface="Epilogue"/>
                <a:ea typeface="Epilogue"/>
                <a:cs typeface="Epilogue"/>
                <a:sym typeface="Epilogue"/>
              </a:rPr>
              <a:t>ELK STACK</a:t>
            </a:r>
            <a:endParaRPr b="0" i="0" sz="750" u="none" cap="none" strike="noStrike">
              <a:solidFill>
                <a:srgbClr val="000000"/>
              </a:solidFill>
              <a:latin typeface="Arial"/>
              <a:ea typeface="Arial"/>
              <a:cs typeface="Arial"/>
              <a:sym typeface="Arial"/>
            </a:endParaRPr>
          </a:p>
        </p:txBody>
      </p:sp>
      <p:sp>
        <p:nvSpPr>
          <p:cNvPr id="192" name="Google Shape;192;p8"/>
          <p:cNvSpPr/>
          <p:nvPr/>
        </p:nvSpPr>
        <p:spPr>
          <a:xfrm>
            <a:off x="434132" y="630436"/>
            <a:ext cx="8275737" cy="77509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400"/>
              <a:buFont typeface="Fraunces"/>
              <a:buNone/>
            </a:pPr>
            <a:r>
              <a:rPr b="0" i="0" lang="en-US" sz="2400" u="none" cap="none" strike="noStrike">
                <a:solidFill>
                  <a:srgbClr val="FFFFFF"/>
                </a:solidFill>
                <a:latin typeface="Fraunces"/>
                <a:ea typeface="Fraunces"/>
                <a:cs typeface="Fraunces"/>
                <a:sym typeface="Fraunces"/>
              </a:rPr>
              <a:t>El Cerebro del Sistema: Ingesta, Almacenamiento y Visualización</a:t>
            </a:r>
            <a:endParaRPr b="0" i="0" sz="2400" u="none" cap="none" strike="noStrike">
              <a:solidFill>
                <a:srgbClr val="000000"/>
              </a:solidFill>
              <a:latin typeface="Arial"/>
              <a:ea typeface="Arial"/>
              <a:cs typeface="Arial"/>
              <a:sym typeface="Arial"/>
            </a:endParaRPr>
          </a:p>
        </p:txBody>
      </p:sp>
      <p:pic>
        <p:nvPicPr>
          <p:cNvPr descr="preencoded.png" id="193" name="Google Shape;193;p8"/>
          <p:cNvPicPr preferRelativeResize="0"/>
          <p:nvPr/>
        </p:nvPicPr>
        <p:blipFill rotWithShape="1">
          <a:blip r:embed="rId3">
            <a:alphaModFix/>
          </a:blip>
          <a:srcRect b="0" l="0" r="0" t="0"/>
          <a:stretch/>
        </p:blipFill>
        <p:spPr>
          <a:xfrm>
            <a:off x="434132" y="1690315"/>
            <a:ext cx="620167" cy="744215"/>
          </a:xfrm>
          <a:prstGeom prst="rect">
            <a:avLst/>
          </a:prstGeom>
          <a:noFill/>
          <a:ln>
            <a:noFill/>
          </a:ln>
        </p:spPr>
      </p:pic>
      <p:sp>
        <p:nvSpPr>
          <p:cNvPr id="194" name="Google Shape;194;p8"/>
          <p:cNvSpPr/>
          <p:nvPr/>
        </p:nvSpPr>
        <p:spPr>
          <a:xfrm>
            <a:off x="1162794" y="1814289"/>
            <a:ext cx="20077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200"/>
              <a:buFont typeface="Fraunces"/>
              <a:buNone/>
            </a:pPr>
            <a:r>
              <a:rPr b="0" i="0" lang="en-US" sz="1200" u="none" cap="none" strike="noStrike">
                <a:solidFill>
                  <a:srgbClr val="EBECEF"/>
                </a:solidFill>
                <a:latin typeface="Fraunces"/>
                <a:ea typeface="Fraunces"/>
                <a:cs typeface="Fraunces"/>
                <a:sym typeface="Fraunces"/>
              </a:rPr>
              <a:t>Honeypots</a:t>
            </a:r>
            <a:endParaRPr b="0" i="0" sz="1200" u="none" cap="none" strike="noStrike">
              <a:solidFill>
                <a:srgbClr val="000000"/>
              </a:solidFill>
              <a:latin typeface="Arial"/>
              <a:ea typeface="Arial"/>
              <a:cs typeface="Arial"/>
              <a:sym typeface="Arial"/>
            </a:endParaRPr>
          </a:p>
        </p:txBody>
      </p:sp>
      <p:pic>
        <p:nvPicPr>
          <p:cNvPr descr="preencoded.png" id="195" name="Google Shape;195;p8"/>
          <p:cNvPicPr preferRelativeResize="0"/>
          <p:nvPr/>
        </p:nvPicPr>
        <p:blipFill rotWithShape="1">
          <a:blip r:embed="rId4">
            <a:alphaModFix/>
          </a:blip>
          <a:srcRect b="0" l="0" r="0" t="0"/>
          <a:stretch/>
        </p:blipFill>
        <p:spPr>
          <a:xfrm>
            <a:off x="434132" y="2434530"/>
            <a:ext cx="620167" cy="744215"/>
          </a:xfrm>
          <a:prstGeom prst="rect">
            <a:avLst/>
          </a:prstGeom>
          <a:noFill/>
          <a:ln>
            <a:noFill/>
          </a:ln>
        </p:spPr>
      </p:pic>
      <p:sp>
        <p:nvSpPr>
          <p:cNvPr id="196" name="Google Shape;196;p8"/>
          <p:cNvSpPr/>
          <p:nvPr/>
        </p:nvSpPr>
        <p:spPr>
          <a:xfrm>
            <a:off x="1162794" y="2558504"/>
            <a:ext cx="20077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200"/>
              <a:buFont typeface="Fraunces"/>
              <a:buNone/>
            </a:pPr>
            <a:r>
              <a:rPr b="0" i="0" lang="en-US" sz="1200" u="none" cap="none" strike="noStrike">
                <a:solidFill>
                  <a:srgbClr val="EBECEF"/>
                </a:solidFill>
                <a:latin typeface="Fraunces"/>
                <a:ea typeface="Fraunces"/>
                <a:cs typeface="Fraunces"/>
                <a:sym typeface="Fraunces"/>
              </a:rPr>
              <a:t>Logstash</a:t>
            </a:r>
            <a:endParaRPr b="0" i="0" sz="1200" u="none" cap="none" strike="noStrike">
              <a:solidFill>
                <a:srgbClr val="000000"/>
              </a:solidFill>
              <a:latin typeface="Arial"/>
              <a:ea typeface="Arial"/>
              <a:cs typeface="Arial"/>
              <a:sym typeface="Arial"/>
            </a:endParaRPr>
          </a:p>
        </p:txBody>
      </p:sp>
      <p:sp>
        <p:nvSpPr>
          <p:cNvPr id="197" name="Google Shape;197;p8"/>
          <p:cNvSpPr/>
          <p:nvPr/>
        </p:nvSpPr>
        <p:spPr>
          <a:xfrm>
            <a:off x="1162794" y="2860849"/>
            <a:ext cx="4143970" cy="1860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Normaliza y enriquece datos</a:t>
            </a:r>
            <a:endParaRPr b="0" i="0" sz="950" u="none" cap="none" strike="noStrike">
              <a:solidFill>
                <a:srgbClr val="000000"/>
              </a:solidFill>
              <a:latin typeface="Arial"/>
              <a:ea typeface="Arial"/>
              <a:cs typeface="Arial"/>
              <a:sym typeface="Arial"/>
            </a:endParaRPr>
          </a:p>
        </p:txBody>
      </p:sp>
      <p:pic>
        <p:nvPicPr>
          <p:cNvPr descr="preencoded.png" id="198" name="Google Shape;198;p8"/>
          <p:cNvPicPr preferRelativeResize="0"/>
          <p:nvPr/>
        </p:nvPicPr>
        <p:blipFill rotWithShape="1">
          <a:blip r:embed="rId5">
            <a:alphaModFix/>
          </a:blip>
          <a:srcRect b="0" l="0" r="0" t="0"/>
          <a:stretch/>
        </p:blipFill>
        <p:spPr>
          <a:xfrm>
            <a:off x="434132" y="3178746"/>
            <a:ext cx="620167" cy="744215"/>
          </a:xfrm>
          <a:prstGeom prst="rect">
            <a:avLst/>
          </a:prstGeom>
          <a:noFill/>
          <a:ln>
            <a:noFill/>
          </a:ln>
        </p:spPr>
      </p:pic>
      <p:sp>
        <p:nvSpPr>
          <p:cNvPr id="199" name="Google Shape;199;p8"/>
          <p:cNvSpPr/>
          <p:nvPr/>
        </p:nvSpPr>
        <p:spPr>
          <a:xfrm>
            <a:off x="1162794" y="3302719"/>
            <a:ext cx="20077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200"/>
              <a:buFont typeface="Fraunces"/>
              <a:buNone/>
            </a:pPr>
            <a:r>
              <a:rPr b="0" i="0" lang="en-US" sz="1200" u="none" cap="none" strike="noStrike">
                <a:solidFill>
                  <a:srgbClr val="EBECEF"/>
                </a:solidFill>
                <a:latin typeface="Fraunces"/>
                <a:ea typeface="Fraunces"/>
                <a:cs typeface="Fraunces"/>
                <a:sym typeface="Fraunces"/>
              </a:rPr>
              <a:t>Elasticsearch</a:t>
            </a:r>
            <a:endParaRPr b="0" i="0" sz="1200" u="none" cap="none" strike="noStrike">
              <a:solidFill>
                <a:srgbClr val="000000"/>
              </a:solidFill>
              <a:latin typeface="Arial"/>
              <a:ea typeface="Arial"/>
              <a:cs typeface="Arial"/>
              <a:sym typeface="Arial"/>
            </a:endParaRPr>
          </a:p>
        </p:txBody>
      </p:sp>
      <p:sp>
        <p:nvSpPr>
          <p:cNvPr id="200" name="Google Shape;200;p8"/>
          <p:cNvSpPr/>
          <p:nvPr/>
        </p:nvSpPr>
        <p:spPr>
          <a:xfrm>
            <a:off x="1162794" y="3605064"/>
            <a:ext cx="4143970" cy="1860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Indexa y almacena millones de eventos</a:t>
            </a:r>
            <a:endParaRPr b="0" i="0" sz="950" u="none" cap="none" strike="noStrike">
              <a:solidFill>
                <a:srgbClr val="000000"/>
              </a:solidFill>
              <a:latin typeface="Arial"/>
              <a:ea typeface="Arial"/>
              <a:cs typeface="Arial"/>
              <a:sym typeface="Arial"/>
            </a:endParaRPr>
          </a:p>
        </p:txBody>
      </p:sp>
      <p:pic>
        <p:nvPicPr>
          <p:cNvPr descr="preencoded.png" id="201" name="Google Shape;201;p8"/>
          <p:cNvPicPr preferRelativeResize="0"/>
          <p:nvPr/>
        </p:nvPicPr>
        <p:blipFill rotWithShape="1">
          <a:blip r:embed="rId6">
            <a:alphaModFix/>
          </a:blip>
          <a:srcRect b="0" l="0" r="0" t="0"/>
          <a:stretch/>
        </p:blipFill>
        <p:spPr>
          <a:xfrm>
            <a:off x="434132" y="3922961"/>
            <a:ext cx="620167" cy="744215"/>
          </a:xfrm>
          <a:prstGeom prst="rect">
            <a:avLst/>
          </a:prstGeom>
          <a:noFill/>
          <a:ln>
            <a:noFill/>
          </a:ln>
        </p:spPr>
      </p:pic>
      <p:sp>
        <p:nvSpPr>
          <p:cNvPr id="202" name="Google Shape;202;p8"/>
          <p:cNvSpPr/>
          <p:nvPr/>
        </p:nvSpPr>
        <p:spPr>
          <a:xfrm>
            <a:off x="1162794" y="4046934"/>
            <a:ext cx="2007766"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200"/>
              <a:buFont typeface="Fraunces"/>
              <a:buNone/>
            </a:pPr>
            <a:r>
              <a:rPr b="0" i="0" lang="en-US" sz="1200" u="none" cap="none" strike="noStrike">
                <a:solidFill>
                  <a:srgbClr val="EBECEF"/>
                </a:solidFill>
                <a:latin typeface="Fraunces"/>
                <a:ea typeface="Fraunces"/>
                <a:cs typeface="Fraunces"/>
                <a:sym typeface="Fraunces"/>
              </a:rPr>
              <a:t>Kibana</a:t>
            </a:r>
            <a:endParaRPr b="0" i="0" sz="1200" u="none" cap="none" strike="noStrike">
              <a:solidFill>
                <a:srgbClr val="000000"/>
              </a:solidFill>
              <a:latin typeface="Arial"/>
              <a:ea typeface="Arial"/>
              <a:cs typeface="Arial"/>
              <a:sym typeface="Arial"/>
            </a:endParaRPr>
          </a:p>
        </p:txBody>
      </p:sp>
      <p:sp>
        <p:nvSpPr>
          <p:cNvPr id="203" name="Google Shape;203;p8"/>
          <p:cNvSpPr/>
          <p:nvPr/>
        </p:nvSpPr>
        <p:spPr>
          <a:xfrm>
            <a:off x="1162794" y="4349279"/>
            <a:ext cx="4143970" cy="1860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Visualiza dashboards e insights</a:t>
            </a:r>
            <a:endParaRPr b="0" i="0" sz="950" u="none" cap="none" strike="noStrike">
              <a:solidFill>
                <a:srgbClr val="000000"/>
              </a:solidFill>
              <a:latin typeface="Arial"/>
              <a:ea typeface="Arial"/>
              <a:cs typeface="Arial"/>
              <a:sym typeface="Arial"/>
            </a:endParaRPr>
          </a:p>
        </p:txBody>
      </p:sp>
      <p:sp>
        <p:nvSpPr>
          <p:cNvPr id="204" name="Google Shape;204;p8"/>
          <p:cNvSpPr/>
          <p:nvPr/>
        </p:nvSpPr>
        <p:spPr>
          <a:xfrm>
            <a:off x="5156895" y="1676772"/>
            <a:ext cx="2687092"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200"/>
              <a:buFont typeface="Fraunces"/>
              <a:buNone/>
            </a:pPr>
            <a:r>
              <a:rPr b="0" i="0" lang="en-US" sz="1200" u="none" cap="none" strike="noStrike">
                <a:solidFill>
                  <a:srgbClr val="FFFFFF"/>
                </a:solidFill>
                <a:latin typeface="Fraunces"/>
                <a:ea typeface="Fraunces"/>
                <a:cs typeface="Fraunces"/>
                <a:sym typeface="Fraunces"/>
              </a:rPr>
              <a:t>Flujo de Datos en Tiempo Real</a:t>
            </a:r>
            <a:endParaRPr b="0" i="0" sz="1200" u="none" cap="none" strike="noStrike">
              <a:solidFill>
                <a:srgbClr val="000000"/>
              </a:solidFill>
              <a:latin typeface="Arial"/>
              <a:ea typeface="Arial"/>
              <a:cs typeface="Arial"/>
              <a:sym typeface="Arial"/>
            </a:endParaRPr>
          </a:p>
        </p:txBody>
      </p:sp>
      <p:sp>
        <p:nvSpPr>
          <p:cNvPr id="205" name="Google Shape;205;p8"/>
          <p:cNvSpPr/>
          <p:nvPr/>
        </p:nvSpPr>
        <p:spPr>
          <a:xfrm>
            <a:off x="5156895" y="1979116"/>
            <a:ext cx="3557662" cy="111621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950"/>
              <a:buFont typeface="Epilogue"/>
              <a:buNone/>
            </a:pPr>
            <a:r>
              <a:rPr b="0" i="0" lang="en-US" sz="950" u="none" cap="none" strike="noStrike">
                <a:solidFill>
                  <a:srgbClr val="EBECEF"/>
                </a:solidFill>
                <a:latin typeface="Epilogue"/>
                <a:ea typeface="Epilogue"/>
                <a:cs typeface="Epilogue"/>
                <a:sym typeface="Epilogue"/>
              </a:rPr>
              <a:t>Los logs de cada contenedor honeypot son procesados por Logstash, que los normaliza al esquema ECS (Elastic Common Schema). Elasticsearch los indexa en clusters optimizados para consultas de alta velocidad. Kibana expone dashboards interactivos, el Attack Map geográfico y alertas automáticas.</a:t>
            </a:r>
            <a:endParaRPr b="0" i="0" sz="950" u="none" cap="none" strike="noStrike">
              <a:solidFill>
                <a:srgbClr val="000000"/>
              </a:solidFill>
              <a:latin typeface="Arial"/>
              <a:ea typeface="Arial"/>
              <a:cs typeface="Arial"/>
              <a:sym typeface="Arial"/>
            </a:endParaRPr>
          </a:p>
        </p:txBody>
      </p:sp>
      <p:sp>
        <p:nvSpPr>
          <p:cNvPr id="206" name="Google Shape;206;p8"/>
          <p:cNvSpPr/>
          <p:nvPr/>
        </p:nvSpPr>
        <p:spPr>
          <a:xfrm>
            <a:off x="5156895" y="3217366"/>
            <a:ext cx="3557662" cy="857176"/>
          </a:xfrm>
          <a:prstGeom prst="roundRect">
            <a:avLst>
              <a:gd fmla="val 6078" name="adj"/>
            </a:avLst>
          </a:prstGeom>
          <a:solidFill>
            <a:srgbClr val="0223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7" name="Google Shape;207;p8"/>
          <p:cNvPicPr preferRelativeResize="0"/>
          <p:nvPr/>
        </p:nvPicPr>
        <p:blipFill rotWithShape="1">
          <a:blip r:embed="rId7">
            <a:alphaModFix/>
          </a:blip>
          <a:srcRect b="0" l="0" r="0" t="0"/>
          <a:stretch/>
        </p:blipFill>
        <p:spPr>
          <a:xfrm>
            <a:off x="5280868" y="3392388"/>
            <a:ext cx="155004" cy="123974"/>
          </a:xfrm>
          <a:prstGeom prst="rect">
            <a:avLst/>
          </a:prstGeom>
          <a:noFill/>
          <a:ln>
            <a:noFill/>
          </a:ln>
        </p:spPr>
      </p:pic>
      <p:sp>
        <p:nvSpPr>
          <p:cNvPr id="208" name="Google Shape;208;p8"/>
          <p:cNvSpPr/>
          <p:nvPr/>
        </p:nvSpPr>
        <p:spPr>
          <a:xfrm>
            <a:off x="5559847" y="3356818"/>
            <a:ext cx="3030736" cy="55810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950"/>
              <a:buFont typeface="Epilogue"/>
              <a:buNone/>
            </a:pPr>
            <a:r>
              <a:rPr b="0" i="0" lang="en-US" sz="950" u="none" cap="none" strike="noStrike">
                <a:solidFill>
                  <a:srgbClr val="FFFFFF"/>
                </a:solidFill>
                <a:latin typeface="Epilogue"/>
                <a:ea typeface="Epilogue"/>
                <a:cs typeface="Epilogue"/>
                <a:sym typeface="Epilogue"/>
              </a:rPr>
              <a:t>El esquema ECS permite correlacionar eventos entre sensores distintos y detectar campañas coordinadas.</a:t>
            </a:r>
            <a:endParaRPr b="0" i="0" sz="95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9"/>
          <p:cNvSpPr/>
          <p:nvPr/>
        </p:nvSpPr>
        <p:spPr>
          <a:xfrm>
            <a:off x="1667991" y="234702"/>
            <a:ext cx="1349648" cy="136252"/>
          </a:xfrm>
          <a:prstGeom prst="roundRect">
            <a:avLst>
              <a:gd fmla="val 20758" name="adj"/>
            </a:avLst>
          </a:prstGeom>
          <a:solidFill>
            <a:srgbClr val="181E3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9"/>
          <p:cNvSpPr/>
          <p:nvPr/>
        </p:nvSpPr>
        <p:spPr>
          <a:xfrm>
            <a:off x="1718444" y="259928"/>
            <a:ext cx="1705942" cy="85799"/>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EBECEF"/>
              </a:buClr>
              <a:buSzPts val="500"/>
              <a:buFont typeface="Epilogue"/>
              <a:buNone/>
            </a:pPr>
            <a:r>
              <a:rPr b="0" i="0" lang="en-US" sz="500" u="none" cap="none" strike="noStrike">
                <a:solidFill>
                  <a:srgbClr val="EBECEF"/>
                </a:solidFill>
                <a:latin typeface="Epilogue"/>
                <a:ea typeface="Epilogue"/>
                <a:cs typeface="Epilogue"/>
                <a:sym typeface="Epilogue"/>
              </a:rPr>
              <a:t>RESULTADOS REALES · 1 MES DE CAPTURA</a:t>
            </a:r>
            <a:endParaRPr b="0" i="0" sz="500" u="none" cap="none" strike="noStrike">
              <a:solidFill>
                <a:srgbClr val="000000"/>
              </a:solidFill>
              <a:latin typeface="Arial"/>
              <a:ea typeface="Arial"/>
              <a:cs typeface="Arial"/>
              <a:sym typeface="Arial"/>
            </a:endParaRPr>
          </a:p>
        </p:txBody>
      </p:sp>
      <p:sp>
        <p:nvSpPr>
          <p:cNvPr id="216" name="Google Shape;216;p9"/>
          <p:cNvSpPr/>
          <p:nvPr/>
        </p:nvSpPr>
        <p:spPr>
          <a:xfrm>
            <a:off x="1667991" y="390897"/>
            <a:ext cx="4891385" cy="26305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650"/>
              <a:buFont typeface="Fraunces"/>
              <a:buNone/>
            </a:pPr>
            <a:r>
              <a:rPr b="0" i="0" lang="en-US" sz="1650" u="none" cap="none" strike="noStrike">
                <a:solidFill>
                  <a:srgbClr val="FFFFFF"/>
                </a:solidFill>
                <a:latin typeface="Fraunces"/>
                <a:ea typeface="Fraunces"/>
                <a:cs typeface="Fraunces"/>
                <a:sym typeface="Fraunces"/>
              </a:rPr>
              <a:t>281.000 Ataques Capturados en un Solo Mes</a:t>
            </a:r>
            <a:endParaRPr b="0" i="0" sz="1650" u="none" cap="none" strike="noStrike">
              <a:solidFill>
                <a:srgbClr val="000000"/>
              </a:solidFill>
              <a:latin typeface="Arial"/>
              <a:ea typeface="Arial"/>
              <a:cs typeface="Arial"/>
              <a:sym typeface="Arial"/>
            </a:endParaRPr>
          </a:p>
        </p:txBody>
      </p:sp>
      <p:pic>
        <p:nvPicPr>
          <p:cNvPr descr="preencoded.png" id="217" name="Google Shape;217;p9"/>
          <p:cNvPicPr preferRelativeResize="0"/>
          <p:nvPr/>
        </p:nvPicPr>
        <p:blipFill rotWithShape="1">
          <a:blip r:embed="rId3">
            <a:alphaModFix/>
          </a:blip>
          <a:srcRect b="0" l="0" r="0" t="0"/>
          <a:stretch/>
        </p:blipFill>
        <p:spPr>
          <a:xfrm>
            <a:off x="1675965" y="728886"/>
            <a:ext cx="5808017" cy="3130152"/>
          </a:xfrm>
          <a:prstGeom prst="rect">
            <a:avLst/>
          </a:prstGeom>
          <a:noFill/>
          <a:ln>
            <a:noFill/>
          </a:ln>
        </p:spPr>
      </p:pic>
      <p:sp>
        <p:nvSpPr>
          <p:cNvPr id="218" name="Google Shape;218;p9"/>
          <p:cNvSpPr/>
          <p:nvPr/>
        </p:nvSpPr>
        <p:spPr>
          <a:xfrm>
            <a:off x="1439391" y="3957265"/>
            <a:ext cx="2122959" cy="332482"/>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EBECEF"/>
              </a:buClr>
              <a:buSzPts val="2600"/>
              <a:buFont typeface="Fraunces"/>
              <a:buNone/>
            </a:pPr>
            <a:r>
              <a:rPr b="0" i="0" lang="en-US" sz="2600" u="none" cap="none" strike="noStrike">
                <a:solidFill>
                  <a:srgbClr val="EBECEF"/>
                </a:solidFill>
                <a:latin typeface="Fraunces"/>
                <a:ea typeface="Fraunces"/>
                <a:cs typeface="Fraunces"/>
                <a:sym typeface="Fraunces"/>
              </a:rPr>
              <a:t>281K</a:t>
            </a:r>
            <a:endParaRPr b="0" i="0" sz="2600" u="none" cap="none" strike="noStrike">
              <a:solidFill>
                <a:srgbClr val="000000"/>
              </a:solidFill>
              <a:latin typeface="Arial"/>
              <a:ea typeface="Arial"/>
              <a:cs typeface="Arial"/>
              <a:sym typeface="Arial"/>
            </a:endParaRPr>
          </a:p>
        </p:txBody>
      </p:sp>
      <p:sp>
        <p:nvSpPr>
          <p:cNvPr id="219" name="Google Shape;219;p9"/>
          <p:cNvSpPr/>
          <p:nvPr/>
        </p:nvSpPr>
        <p:spPr>
          <a:xfrm>
            <a:off x="1860500" y="4369222"/>
            <a:ext cx="1280740" cy="13149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EBECEF"/>
              </a:buClr>
              <a:buSzPts val="800"/>
              <a:buFont typeface="Fraunces"/>
              <a:buNone/>
            </a:pPr>
            <a:r>
              <a:rPr b="0" i="0" lang="en-US" sz="800" u="none" cap="none" strike="noStrike">
                <a:solidFill>
                  <a:srgbClr val="EBECEF"/>
                </a:solidFill>
                <a:latin typeface="Fraunces"/>
                <a:ea typeface="Fraunces"/>
                <a:cs typeface="Fraunces"/>
                <a:sym typeface="Fraunces"/>
              </a:rPr>
              <a:t>Eventos Capturados</a:t>
            </a:r>
            <a:endParaRPr b="0" i="0" sz="800" u="none" cap="none" strike="noStrike">
              <a:solidFill>
                <a:srgbClr val="000000"/>
              </a:solidFill>
              <a:latin typeface="Arial"/>
              <a:ea typeface="Arial"/>
              <a:cs typeface="Arial"/>
              <a:sym typeface="Arial"/>
            </a:endParaRPr>
          </a:p>
        </p:txBody>
      </p:sp>
      <p:sp>
        <p:nvSpPr>
          <p:cNvPr id="220" name="Google Shape;220;p9"/>
          <p:cNvSpPr/>
          <p:nvPr/>
        </p:nvSpPr>
        <p:spPr>
          <a:xfrm>
            <a:off x="1439391" y="4530626"/>
            <a:ext cx="2122959" cy="107305"/>
          </a:xfrm>
          <a:prstGeom prst="rect">
            <a:avLst/>
          </a:prstGeom>
          <a:noFill/>
          <a:ln>
            <a:noFill/>
          </a:ln>
        </p:spPr>
        <p:txBody>
          <a:bodyPr anchorCtr="0" anchor="t" bIns="0" lIns="0" spcFirstLastPara="1" rIns="0" wrap="square" tIns="0">
            <a:noAutofit/>
          </a:bodyPr>
          <a:lstStyle/>
          <a:p>
            <a:pPr indent="0" lvl="0" marL="0" marR="0" rtl="0" algn="ctr">
              <a:lnSpc>
                <a:spcPct val="106000"/>
              </a:lnSpc>
              <a:spcBef>
                <a:spcPts val="0"/>
              </a:spcBef>
              <a:spcAft>
                <a:spcPts val="0"/>
              </a:spcAft>
              <a:buClr>
                <a:srgbClr val="EBECEF"/>
              </a:buClr>
              <a:buSzPts val="650"/>
              <a:buFont typeface="Epilogue"/>
              <a:buNone/>
            </a:pPr>
            <a:r>
              <a:rPr b="0" i="0" lang="en-US" sz="650" u="none" cap="none" strike="noStrike">
                <a:solidFill>
                  <a:srgbClr val="EBECEF"/>
                </a:solidFill>
                <a:latin typeface="Epilogue"/>
                <a:ea typeface="Epilogue"/>
                <a:cs typeface="Epilogue"/>
                <a:sym typeface="Epilogue"/>
              </a:rPr>
              <a:t>En 30 días de operación continua</a:t>
            </a:r>
            <a:endParaRPr b="0" i="0" sz="650" u="none" cap="none" strike="noStrike">
              <a:solidFill>
                <a:srgbClr val="000000"/>
              </a:solidFill>
              <a:latin typeface="Arial"/>
              <a:ea typeface="Arial"/>
              <a:cs typeface="Arial"/>
              <a:sym typeface="Arial"/>
            </a:endParaRPr>
          </a:p>
        </p:txBody>
      </p:sp>
      <p:sp>
        <p:nvSpPr>
          <p:cNvPr id="221" name="Google Shape;221;p9"/>
          <p:cNvSpPr/>
          <p:nvPr/>
        </p:nvSpPr>
        <p:spPr>
          <a:xfrm>
            <a:off x="3396183" y="3957265"/>
            <a:ext cx="2122959" cy="332482"/>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EBECEF"/>
              </a:buClr>
              <a:buSzPts val="2600"/>
              <a:buFont typeface="Fraunces"/>
              <a:buNone/>
            </a:pPr>
            <a:r>
              <a:rPr b="0" i="0" lang="en-US" sz="2600" u="none" cap="none" strike="noStrike">
                <a:solidFill>
                  <a:srgbClr val="EBECEF"/>
                </a:solidFill>
                <a:latin typeface="Fraunces"/>
                <a:ea typeface="Fraunces"/>
                <a:cs typeface="Fraunces"/>
                <a:sym typeface="Fraunces"/>
              </a:rPr>
              <a:t>20+</a:t>
            </a:r>
            <a:endParaRPr b="0" i="0" sz="2600" u="none" cap="none" strike="noStrike">
              <a:solidFill>
                <a:srgbClr val="000000"/>
              </a:solidFill>
              <a:latin typeface="Arial"/>
              <a:ea typeface="Arial"/>
              <a:cs typeface="Arial"/>
              <a:sym typeface="Arial"/>
            </a:endParaRPr>
          </a:p>
        </p:txBody>
      </p:sp>
      <p:sp>
        <p:nvSpPr>
          <p:cNvPr id="222" name="Google Shape;222;p9"/>
          <p:cNvSpPr/>
          <p:nvPr/>
        </p:nvSpPr>
        <p:spPr>
          <a:xfrm>
            <a:off x="3817293" y="4369222"/>
            <a:ext cx="1280740" cy="13149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EBECEF"/>
              </a:buClr>
              <a:buSzPts val="800"/>
              <a:buFont typeface="Fraunces"/>
              <a:buNone/>
            </a:pPr>
            <a:r>
              <a:rPr b="0" i="0" lang="en-US" sz="800" u="none" cap="none" strike="noStrike">
                <a:solidFill>
                  <a:srgbClr val="EBECEF"/>
                </a:solidFill>
                <a:latin typeface="Fraunces"/>
                <a:ea typeface="Fraunces"/>
                <a:cs typeface="Fraunces"/>
                <a:sym typeface="Fraunces"/>
              </a:rPr>
              <a:t>Honeypots Activos</a:t>
            </a:r>
            <a:endParaRPr b="0" i="0" sz="800" u="none" cap="none" strike="noStrike">
              <a:solidFill>
                <a:srgbClr val="000000"/>
              </a:solidFill>
              <a:latin typeface="Arial"/>
              <a:ea typeface="Arial"/>
              <a:cs typeface="Arial"/>
              <a:sym typeface="Arial"/>
            </a:endParaRPr>
          </a:p>
        </p:txBody>
      </p:sp>
      <p:sp>
        <p:nvSpPr>
          <p:cNvPr id="223" name="Google Shape;223;p9"/>
          <p:cNvSpPr/>
          <p:nvPr/>
        </p:nvSpPr>
        <p:spPr>
          <a:xfrm>
            <a:off x="3396183" y="4530626"/>
            <a:ext cx="2122959" cy="107305"/>
          </a:xfrm>
          <a:prstGeom prst="rect">
            <a:avLst/>
          </a:prstGeom>
          <a:noFill/>
          <a:ln>
            <a:noFill/>
          </a:ln>
        </p:spPr>
        <p:txBody>
          <a:bodyPr anchorCtr="0" anchor="t" bIns="0" lIns="0" spcFirstLastPara="1" rIns="0" wrap="square" tIns="0">
            <a:noAutofit/>
          </a:bodyPr>
          <a:lstStyle/>
          <a:p>
            <a:pPr indent="0" lvl="0" marL="0" marR="0" rtl="0" algn="ctr">
              <a:lnSpc>
                <a:spcPct val="106000"/>
              </a:lnSpc>
              <a:spcBef>
                <a:spcPts val="0"/>
              </a:spcBef>
              <a:spcAft>
                <a:spcPts val="0"/>
              </a:spcAft>
              <a:buClr>
                <a:srgbClr val="EBECEF"/>
              </a:buClr>
              <a:buSzPts val="650"/>
              <a:buFont typeface="Epilogue"/>
              <a:buNone/>
            </a:pPr>
            <a:r>
              <a:rPr b="0" i="0" lang="en-US" sz="650" u="none" cap="none" strike="noStrike">
                <a:solidFill>
                  <a:srgbClr val="EBECEF"/>
                </a:solidFill>
                <a:latin typeface="Epilogue"/>
                <a:ea typeface="Epilogue"/>
                <a:cs typeface="Epilogue"/>
                <a:sym typeface="Epilogue"/>
              </a:rPr>
              <a:t>Cobertura integral de vectores de ataque</a:t>
            </a:r>
            <a:endParaRPr b="0" i="0" sz="650" u="none" cap="none" strike="noStrike">
              <a:solidFill>
                <a:srgbClr val="000000"/>
              </a:solidFill>
              <a:latin typeface="Arial"/>
              <a:ea typeface="Arial"/>
              <a:cs typeface="Arial"/>
              <a:sym typeface="Arial"/>
            </a:endParaRPr>
          </a:p>
        </p:txBody>
      </p:sp>
      <p:sp>
        <p:nvSpPr>
          <p:cNvPr id="224" name="Google Shape;224;p9"/>
          <p:cNvSpPr/>
          <p:nvPr/>
        </p:nvSpPr>
        <p:spPr>
          <a:xfrm>
            <a:off x="5352976" y="3957265"/>
            <a:ext cx="2122959" cy="332482"/>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EBECEF"/>
              </a:buClr>
              <a:buSzPts val="2600"/>
              <a:buFont typeface="Fraunces"/>
              <a:buNone/>
            </a:pPr>
            <a:r>
              <a:rPr b="0" i="0" lang="en-US" sz="2600" u="none" cap="none" strike="noStrike">
                <a:solidFill>
                  <a:srgbClr val="EBECEF"/>
                </a:solidFill>
                <a:latin typeface="Fraunces"/>
                <a:ea typeface="Fraunces"/>
                <a:cs typeface="Fraunces"/>
                <a:sym typeface="Fraunces"/>
              </a:rPr>
              <a:t>3</a:t>
            </a:r>
            <a:endParaRPr b="0" i="0" sz="2600" u="none" cap="none" strike="noStrike">
              <a:solidFill>
                <a:srgbClr val="000000"/>
              </a:solidFill>
              <a:latin typeface="Arial"/>
              <a:ea typeface="Arial"/>
              <a:cs typeface="Arial"/>
              <a:sym typeface="Arial"/>
            </a:endParaRPr>
          </a:p>
        </p:txBody>
      </p:sp>
      <p:sp>
        <p:nvSpPr>
          <p:cNvPr id="225" name="Google Shape;225;p9"/>
          <p:cNvSpPr/>
          <p:nvPr/>
        </p:nvSpPr>
        <p:spPr>
          <a:xfrm>
            <a:off x="5774085" y="4369222"/>
            <a:ext cx="1280740" cy="13149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EBECEF"/>
              </a:buClr>
              <a:buSzPts val="800"/>
              <a:buFont typeface="Fraunces"/>
              <a:buNone/>
            </a:pPr>
            <a:r>
              <a:rPr b="0" i="0" lang="en-US" sz="800" u="none" cap="none" strike="noStrike">
                <a:solidFill>
                  <a:srgbClr val="EBECEF"/>
                </a:solidFill>
                <a:latin typeface="Fraunces"/>
                <a:ea typeface="Fraunces"/>
                <a:cs typeface="Fraunces"/>
                <a:sym typeface="Fraunces"/>
              </a:rPr>
              <a:t>Países Top</a:t>
            </a:r>
            <a:endParaRPr b="0" i="0" sz="800" u="none" cap="none" strike="noStrike">
              <a:solidFill>
                <a:srgbClr val="000000"/>
              </a:solidFill>
              <a:latin typeface="Arial"/>
              <a:ea typeface="Arial"/>
              <a:cs typeface="Arial"/>
              <a:sym typeface="Arial"/>
            </a:endParaRPr>
          </a:p>
        </p:txBody>
      </p:sp>
      <p:sp>
        <p:nvSpPr>
          <p:cNvPr id="226" name="Google Shape;226;p9"/>
          <p:cNvSpPr/>
          <p:nvPr/>
        </p:nvSpPr>
        <p:spPr>
          <a:xfrm>
            <a:off x="5352976" y="4530626"/>
            <a:ext cx="2122959" cy="107305"/>
          </a:xfrm>
          <a:prstGeom prst="rect">
            <a:avLst/>
          </a:prstGeom>
          <a:noFill/>
          <a:ln>
            <a:noFill/>
          </a:ln>
        </p:spPr>
        <p:txBody>
          <a:bodyPr anchorCtr="0" anchor="t" bIns="0" lIns="0" spcFirstLastPara="1" rIns="0" wrap="square" tIns="0">
            <a:noAutofit/>
          </a:bodyPr>
          <a:lstStyle/>
          <a:p>
            <a:pPr indent="0" lvl="0" marL="0" marR="0" rtl="0" algn="ctr">
              <a:lnSpc>
                <a:spcPct val="106000"/>
              </a:lnSpc>
              <a:spcBef>
                <a:spcPts val="0"/>
              </a:spcBef>
              <a:spcAft>
                <a:spcPts val="0"/>
              </a:spcAft>
              <a:buClr>
                <a:srgbClr val="EBECEF"/>
              </a:buClr>
              <a:buSzPts val="650"/>
              <a:buFont typeface="Epilogue"/>
              <a:buNone/>
            </a:pPr>
            <a:r>
              <a:rPr b="0" i="0" lang="en-US" sz="650" u="none" cap="none" strike="noStrike">
                <a:solidFill>
                  <a:srgbClr val="EBECEF"/>
                </a:solidFill>
                <a:latin typeface="Epilogue"/>
                <a:ea typeface="Epilogue"/>
                <a:cs typeface="Epilogue"/>
                <a:sym typeface="Epilogue"/>
              </a:rPr>
              <a:t>EE.UU., Países Bajos, Filipinas</a:t>
            </a:r>
            <a:endParaRPr b="0" i="0" sz="650" u="none" cap="none" strike="noStrike">
              <a:solidFill>
                <a:srgbClr val="000000"/>
              </a:solidFill>
              <a:latin typeface="Arial"/>
              <a:ea typeface="Arial"/>
              <a:cs typeface="Arial"/>
              <a:sym typeface="Arial"/>
            </a:endParaRPr>
          </a:p>
        </p:txBody>
      </p:sp>
      <p:sp>
        <p:nvSpPr>
          <p:cNvPr id="227" name="Google Shape;227;p9"/>
          <p:cNvSpPr/>
          <p:nvPr/>
        </p:nvSpPr>
        <p:spPr>
          <a:xfrm>
            <a:off x="1667991" y="4694113"/>
            <a:ext cx="5808018" cy="21461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EBECEF"/>
              </a:buClr>
              <a:buSzPts val="650"/>
              <a:buFont typeface="Epilogue"/>
              <a:buNone/>
            </a:pPr>
            <a:r>
              <a:rPr b="0" i="0" lang="en-US" sz="650" u="none" cap="none" strike="noStrike">
                <a:solidFill>
                  <a:srgbClr val="EBECEF"/>
                </a:solidFill>
                <a:latin typeface="Epilogue"/>
                <a:ea typeface="Epilogue"/>
                <a:cs typeface="Epilogue"/>
                <a:sym typeface="Epilogue"/>
              </a:rPr>
              <a:t>Los </a:t>
            </a:r>
            <a:r>
              <a:rPr b="1" i="0" lang="en-US" sz="650" u="none" cap="none" strike="noStrike">
                <a:solidFill>
                  <a:srgbClr val="EBECEF"/>
                </a:solidFill>
                <a:latin typeface="Epilogue"/>
                <a:ea typeface="Epilogue"/>
                <a:cs typeface="Epilogue"/>
                <a:sym typeface="Epilogue"/>
              </a:rPr>
              <a:t>ASNs</a:t>
            </a:r>
            <a:r>
              <a:rPr b="0" i="0" lang="en-US" sz="650" u="none" cap="none" strike="noStrike">
                <a:solidFill>
                  <a:srgbClr val="EBECEF"/>
                </a:solidFill>
                <a:latin typeface="Epilogue"/>
                <a:ea typeface="Epilogue"/>
                <a:cs typeface="Epilogue"/>
                <a:sym typeface="Epilogue"/>
              </a:rPr>
              <a:t> más activos pertenecen a proveedores cloud, confirmando que los ataques se originan desde infraestructuras comprometidas alquiladas, no desde hogares.</a:t>
            </a:r>
            <a:endParaRPr b="0" i="0" sz="65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0"/>
          <p:cNvSpPr/>
          <p:nvPr/>
        </p:nvSpPr>
        <p:spPr>
          <a:xfrm>
            <a:off x="472901" y="375121"/>
            <a:ext cx="1480021" cy="259407"/>
          </a:xfrm>
          <a:prstGeom prst="roundRect">
            <a:avLst>
              <a:gd fmla="val 17502" name="adj"/>
            </a:avLst>
          </a:prstGeom>
          <a:noFill/>
          <a:ln cap="flat" cmpd="sng" w="9525">
            <a:solidFill>
              <a:srgbClr val="8C98C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0"/>
          <p:cNvSpPr/>
          <p:nvPr/>
        </p:nvSpPr>
        <p:spPr>
          <a:xfrm>
            <a:off x="558701" y="420365"/>
            <a:ext cx="1765622" cy="1689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C98CA"/>
              </a:buClr>
              <a:buSzPts val="850"/>
              <a:buFont typeface="Epilogue"/>
              <a:buNone/>
            </a:pPr>
            <a:r>
              <a:rPr b="0" i="0" lang="en-US" sz="850" u="none" cap="none" strike="noStrike">
                <a:solidFill>
                  <a:srgbClr val="8C98CA"/>
                </a:solidFill>
                <a:latin typeface="Epilogue"/>
                <a:ea typeface="Epilogue"/>
                <a:cs typeface="Epilogue"/>
                <a:sym typeface="Epilogue"/>
              </a:rPr>
              <a:t>INTELIGENCIA ACCIONABLE</a:t>
            </a:r>
            <a:endParaRPr b="0" i="0" sz="850" u="none" cap="none" strike="noStrike">
              <a:solidFill>
                <a:srgbClr val="000000"/>
              </a:solidFill>
              <a:latin typeface="Arial"/>
              <a:ea typeface="Arial"/>
              <a:cs typeface="Arial"/>
              <a:sym typeface="Arial"/>
            </a:endParaRPr>
          </a:p>
        </p:txBody>
      </p:sp>
      <p:sp>
        <p:nvSpPr>
          <p:cNvPr id="235" name="Google Shape;235;p10"/>
          <p:cNvSpPr/>
          <p:nvPr/>
        </p:nvSpPr>
        <p:spPr>
          <a:xfrm>
            <a:off x="472901" y="686023"/>
            <a:ext cx="6968654" cy="422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50"/>
              <a:buFont typeface="Fraunces"/>
              <a:buNone/>
            </a:pPr>
            <a:r>
              <a:rPr b="0" i="0" lang="en-US" sz="2650" u="none" cap="none" strike="noStrike">
                <a:solidFill>
                  <a:srgbClr val="FFFFFF"/>
                </a:solidFill>
                <a:latin typeface="Fraunces"/>
                <a:ea typeface="Fraunces"/>
                <a:cs typeface="Fraunces"/>
                <a:sym typeface="Fraunces"/>
              </a:rPr>
              <a:t>De los Logs a la Defensa Real de la PYME</a:t>
            </a:r>
            <a:endParaRPr b="0" i="0" sz="2650" u="none" cap="none" strike="noStrike">
              <a:solidFill>
                <a:srgbClr val="000000"/>
              </a:solidFill>
              <a:latin typeface="Arial"/>
              <a:ea typeface="Arial"/>
              <a:cs typeface="Arial"/>
              <a:sym typeface="Arial"/>
            </a:endParaRPr>
          </a:p>
        </p:txBody>
      </p:sp>
      <p:pic>
        <p:nvPicPr>
          <p:cNvPr descr="preencoded.png" id="236" name="Google Shape;236;p10"/>
          <p:cNvPicPr preferRelativeResize="0"/>
          <p:nvPr/>
        </p:nvPicPr>
        <p:blipFill rotWithShape="1">
          <a:blip r:embed="rId3">
            <a:alphaModFix/>
          </a:blip>
          <a:srcRect b="0" l="0" r="0" t="0"/>
          <a:stretch/>
        </p:blipFill>
        <p:spPr>
          <a:xfrm>
            <a:off x="472901" y="1781324"/>
            <a:ext cx="2507233" cy="2507233"/>
          </a:xfrm>
          <a:prstGeom prst="rect">
            <a:avLst/>
          </a:prstGeom>
          <a:noFill/>
          <a:ln>
            <a:noFill/>
          </a:ln>
        </p:spPr>
      </p:pic>
      <p:sp>
        <p:nvSpPr>
          <p:cNvPr id="237" name="Google Shape;237;p10"/>
          <p:cNvSpPr/>
          <p:nvPr/>
        </p:nvSpPr>
        <p:spPr>
          <a:xfrm>
            <a:off x="3462412" y="1430238"/>
            <a:ext cx="2957364" cy="2111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300"/>
              <a:buFont typeface="Fraunces"/>
              <a:buNone/>
            </a:pPr>
            <a:r>
              <a:rPr b="0" i="0" lang="en-US" sz="1300" u="none" cap="none" strike="noStrike">
                <a:solidFill>
                  <a:srgbClr val="FFFFFF"/>
                </a:solidFill>
                <a:latin typeface="Fraunces"/>
                <a:ea typeface="Fraunces"/>
                <a:cs typeface="Fraunces"/>
                <a:sym typeface="Fraunces"/>
              </a:rPr>
              <a:t>Aplicación Práctica de los IOCs</a:t>
            </a:r>
            <a:endParaRPr b="0" i="0" sz="1300" u="none" cap="none" strike="noStrike">
              <a:solidFill>
                <a:srgbClr val="000000"/>
              </a:solidFill>
              <a:latin typeface="Arial"/>
              <a:ea typeface="Arial"/>
              <a:cs typeface="Arial"/>
              <a:sym typeface="Arial"/>
            </a:endParaRPr>
          </a:p>
        </p:txBody>
      </p:sp>
      <p:pic>
        <p:nvPicPr>
          <p:cNvPr descr="preencoded.png" id="238" name="Google Shape;238;p10"/>
          <p:cNvPicPr preferRelativeResize="0"/>
          <p:nvPr/>
        </p:nvPicPr>
        <p:blipFill rotWithShape="1">
          <a:blip r:embed="rId4">
            <a:alphaModFix/>
          </a:blip>
          <a:srcRect b="0" l="0" r="0" t="0"/>
          <a:stretch/>
        </p:blipFill>
        <p:spPr>
          <a:xfrm>
            <a:off x="3513088" y="1790365"/>
            <a:ext cx="202629" cy="202629"/>
          </a:xfrm>
          <a:prstGeom prst="rect">
            <a:avLst/>
          </a:prstGeom>
          <a:noFill/>
          <a:ln>
            <a:noFill/>
          </a:ln>
        </p:spPr>
      </p:pic>
      <p:sp>
        <p:nvSpPr>
          <p:cNvPr id="239" name="Google Shape;239;p10"/>
          <p:cNvSpPr/>
          <p:nvPr/>
        </p:nvSpPr>
        <p:spPr>
          <a:xfrm>
            <a:off x="3901455" y="1786235"/>
            <a:ext cx="2518246" cy="2111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300"/>
              <a:buFont typeface="Fraunces"/>
              <a:buNone/>
            </a:pPr>
            <a:r>
              <a:rPr b="0" i="0" lang="en-US" sz="1300" u="none" cap="none" strike="noStrike">
                <a:solidFill>
                  <a:srgbClr val="EBECEF"/>
                </a:solidFill>
                <a:latin typeface="Fraunces"/>
                <a:ea typeface="Fraunces"/>
                <a:cs typeface="Fraunces"/>
                <a:sym typeface="Fraunces"/>
              </a:rPr>
              <a:t>Blacklists para el Firewall</a:t>
            </a:r>
            <a:endParaRPr b="0" i="0" sz="1300" u="none" cap="none" strike="noStrike">
              <a:solidFill>
                <a:srgbClr val="000000"/>
              </a:solidFill>
              <a:latin typeface="Arial"/>
              <a:ea typeface="Arial"/>
              <a:cs typeface="Arial"/>
              <a:sym typeface="Arial"/>
            </a:endParaRPr>
          </a:p>
        </p:txBody>
      </p:sp>
      <p:sp>
        <p:nvSpPr>
          <p:cNvPr id="240" name="Google Shape;240;p10"/>
          <p:cNvSpPr/>
          <p:nvPr/>
        </p:nvSpPr>
        <p:spPr>
          <a:xfrm>
            <a:off x="3901455" y="2126084"/>
            <a:ext cx="2087166" cy="126667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BECEF"/>
              </a:buClr>
              <a:buSzPts val="1050"/>
              <a:buFont typeface="Epilogue"/>
              <a:buNone/>
            </a:pPr>
            <a:r>
              <a:rPr b="0" i="0" lang="en-US" sz="1050" u="none" cap="none" strike="noStrike">
                <a:solidFill>
                  <a:srgbClr val="EBECEF"/>
                </a:solidFill>
                <a:latin typeface="Epilogue"/>
                <a:ea typeface="Epilogue"/>
                <a:cs typeface="Epilogue"/>
                <a:sym typeface="Epilogue"/>
              </a:rPr>
              <a:t>Las IPs maliciosas confirmadas se exportan automáticamente a </a:t>
            </a:r>
            <a:r>
              <a:rPr b="1" i="0" lang="en-US" sz="1050" u="none" cap="none" strike="noStrike">
                <a:solidFill>
                  <a:srgbClr val="EBECEF"/>
                </a:solidFill>
                <a:latin typeface="Epilogue"/>
                <a:ea typeface="Epilogue"/>
                <a:cs typeface="Epilogue"/>
                <a:sym typeface="Epilogue"/>
              </a:rPr>
              <a:t>iptables/nftables</a:t>
            </a:r>
            <a:r>
              <a:rPr b="0" i="0" lang="en-US" sz="1050" u="none" cap="none" strike="noStrike">
                <a:solidFill>
                  <a:srgbClr val="EBECEF"/>
                </a:solidFill>
                <a:latin typeface="Epilogue"/>
                <a:ea typeface="Epilogue"/>
                <a:cs typeface="Epilogue"/>
                <a:sym typeface="Epilogue"/>
              </a:rPr>
              <a:t> del firewall perimetral del hotel, bloqueando ataques antes de que alcancen sistemas reales.</a:t>
            </a:r>
            <a:endParaRPr b="0" i="0" sz="1050" u="none" cap="none" strike="noStrike">
              <a:solidFill>
                <a:srgbClr val="000000"/>
              </a:solidFill>
              <a:latin typeface="Arial"/>
              <a:ea typeface="Arial"/>
              <a:cs typeface="Arial"/>
              <a:sym typeface="Arial"/>
            </a:endParaRPr>
          </a:p>
        </p:txBody>
      </p:sp>
      <p:pic>
        <p:nvPicPr>
          <p:cNvPr descr="preencoded.png" id="241" name="Google Shape;241;p10"/>
          <p:cNvPicPr preferRelativeResize="0"/>
          <p:nvPr/>
        </p:nvPicPr>
        <p:blipFill rotWithShape="1">
          <a:blip r:embed="rId4">
            <a:alphaModFix/>
          </a:blip>
          <a:srcRect b="0" l="0" r="0" t="0"/>
          <a:stretch/>
        </p:blipFill>
        <p:spPr>
          <a:xfrm>
            <a:off x="6200254" y="1790365"/>
            <a:ext cx="202629" cy="202629"/>
          </a:xfrm>
          <a:prstGeom prst="rect">
            <a:avLst/>
          </a:prstGeom>
          <a:noFill/>
          <a:ln>
            <a:noFill/>
          </a:ln>
        </p:spPr>
      </p:pic>
      <p:sp>
        <p:nvSpPr>
          <p:cNvPr id="242" name="Google Shape;242;p10"/>
          <p:cNvSpPr/>
          <p:nvPr/>
        </p:nvSpPr>
        <p:spPr>
          <a:xfrm>
            <a:off x="6588621" y="1786235"/>
            <a:ext cx="2087240" cy="42222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300"/>
              <a:buFont typeface="Fraunces"/>
              <a:buNone/>
            </a:pPr>
            <a:r>
              <a:rPr b="0" i="0" lang="en-US" sz="1300" u="none" cap="none" strike="noStrike">
                <a:solidFill>
                  <a:srgbClr val="EBECEF"/>
                </a:solidFill>
                <a:latin typeface="Fraunces"/>
                <a:ea typeface="Fraunces"/>
                <a:cs typeface="Fraunces"/>
                <a:sym typeface="Fraunces"/>
              </a:rPr>
              <a:t>Formación en Phishing Basada en Datos Reales</a:t>
            </a:r>
            <a:endParaRPr b="0" i="0" sz="1300" u="none" cap="none" strike="noStrike">
              <a:solidFill>
                <a:srgbClr val="000000"/>
              </a:solidFill>
              <a:latin typeface="Arial"/>
              <a:ea typeface="Arial"/>
              <a:cs typeface="Arial"/>
              <a:sym typeface="Arial"/>
            </a:endParaRPr>
          </a:p>
        </p:txBody>
      </p:sp>
      <p:sp>
        <p:nvSpPr>
          <p:cNvPr id="243" name="Google Shape;243;p10"/>
          <p:cNvSpPr/>
          <p:nvPr/>
        </p:nvSpPr>
        <p:spPr>
          <a:xfrm>
            <a:off x="6588621" y="2337197"/>
            <a:ext cx="2087240" cy="10555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BECEF"/>
              </a:buClr>
              <a:buSzPts val="1050"/>
              <a:buFont typeface="Epilogue"/>
              <a:buNone/>
            </a:pPr>
            <a:r>
              <a:rPr b="0" i="0" lang="en-US" sz="1050" u="none" cap="none" strike="noStrike">
                <a:solidFill>
                  <a:srgbClr val="EBECEF"/>
                </a:solidFill>
                <a:latin typeface="Epilogue"/>
                <a:ea typeface="Epilogue"/>
                <a:cs typeface="Epilogue"/>
                <a:sym typeface="Epilogue"/>
              </a:rPr>
              <a:t>Los correos y payloads capturados por Tanner sirven como </a:t>
            </a:r>
            <a:r>
              <a:rPr b="1" i="0" lang="en-US" sz="1050" u="none" cap="none" strike="noStrike">
                <a:solidFill>
                  <a:srgbClr val="EBECEF"/>
                </a:solidFill>
                <a:latin typeface="Epilogue"/>
                <a:ea typeface="Epilogue"/>
                <a:cs typeface="Epilogue"/>
                <a:sym typeface="Epilogue"/>
              </a:rPr>
              <a:t>casos reales</a:t>
            </a:r>
            <a:r>
              <a:rPr b="0" i="0" lang="en-US" sz="1050" u="none" cap="none" strike="noStrike">
                <a:solidFill>
                  <a:srgbClr val="EBECEF"/>
                </a:solidFill>
                <a:latin typeface="Epilogue"/>
                <a:ea typeface="Epilogue"/>
                <a:cs typeface="Epilogue"/>
                <a:sym typeface="Epilogue"/>
              </a:rPr>
              <a:t> para entrenar al personal del hotel en identificación de amenazas.</a:t>
            </a:r>
            <a:endParaRPr b="0" i="0" sz="1050" u="none" cap="none" strike="noStrike">
              <a:solidFill>
                <a:srgbClr val="000000"/>
              </a:solidFill>
              <a:latin typeface="Arial"/>
              <a:ea typeface="Arial"/>
              <a:cs typeface="Arial"/>
              <a:sym typeface="Arial"/>
            </a:endParaRPr>
          </a:p>
        </p:txBody>
      </p:sp>
      <p:pic>
        <p:nvPicPr>
          <p:cNvPr descr="preencoded.png" id="244" name="Google Shape;244;p10"/>
          <p:cNvPicPr preferRelativeResize="0"/>
          <p:nvPr/>
        </p:nvPicPr>
        <p:blipFill rotWithShape="1">
          <a:blip r:embed="rId4">
            <a:alphaModFix/>
          </a:blip>
          <a:srcRect b="0" l="0" r="0" t="0"/>
          <a:stretch/>
        </p:blipFill>
        <p:spPr>
          <a:xfrm>
            <a:off x="3513088" y="3654437"/>
            <a:ext cx="202629" cy="202629"/>
          </a:xfrm>
          <a:prstGeom prst="rect">
            <a:avLst/>
          </a:prstGeom>
          <a:noFill/>
          <a:ln>
            <a:noFill/>
          </a:ln>
        </p:spPr>
      </p:pic>
      <p:sp>
        <p:nvSpPr>
          <p:cNvPr id="245" name="Google Shape;245;p10"/>
          <p:cNvSpPr/>
          <p:nvPr/>
        </p:nvSpPr>
        <p:spPr>
          <a:xfrm>
            <a:off x="3901455" y="3650307"/>
            <a:ext cx="2496889" cy="2111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300"/>
              <a:buFont typeface="Fraunces"/>
              <a:buNone/>
            </a:pPr>
            <a:r>
              <a:rPr b="0" i="0" lang="en-US" sz="1300" u="none" cap="none" strike="noStrike">
                <a:solidFill>
                  <a:srgbClr val="EBECEF"/>
                </a:solidFill>
                <a:latin typeface="Fraunces"/>
                <a:ea typeface="Fraunces"/>
                <a:cs typeface="Fraunces"/>
                <a:sym typeface="Fraunces"/>
              </a:rPr>
              <a:t>Filtrado del Ruido Blanco</a:t>
            </a:r>
            <a:endParaRPr b="0" i="0" sz="1300" u="none" cap="none" strike="noStrike">
              <a:solidFill>
                <a:srgbClr val="000000"/>
              </a:solidFill>
              <a:latin typeface="Arial"/>
              <a:ea typeface="Arial"/>
              <a:cs typeface="Arial"/>
              <a:sym typeface="Arial"/>
            </a:endParaRPr>
          </a:p>
        </p:txBody>
      </p:sp>
      <p:sp>
        <p:nvSpPr>
          <p:cNvPr id="246" name="Google Shape;246;p10"/>
          <p:cNvSpPr/>
          <p:nvPr/>
        </p:nvSpPr>
        <p:spPr>
          <a:xfrm>
            <a:off x="3901455" y="3990156"/>
            <a:ext cx="4774406" cy="633338"/>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BECEF"/>
              </a:buClr>
              <a:buSzPts val="1050"/>
              <a:buFont typeface="Epilogue"/>
              <a:buNone/>
            </a:pPr>
            <a:r>
              <a:rPr b="0" i="0" lang="en-US" sz="1050" u="none" cap="none" strike="noStrike">
                <a:solidFill>
                  <a:srgbClr val="EBECEF"/>
                </a:solidFill>
                <a:latin typeface="Epilogue"/>
                <a:ea typeface="Epilogue"/>
                <a:cs typeface="Epilogue"/>
                <a:sym typeface="Epilogue"/>
              </a:rPr>
              <a:t>Elasticsearch permite excluir bots legítimos (Shodan, Censys) mediante filtros por ASN y user-agent, centrando el análisis en </a:t>
            </a:r>
            <a:r>
              <a:rPr b="1" i="0" lang="en-US" sz="1050" u="none" cap="none" strike="noStrike">
                <a:solidFill>
                  <a:srgbClr val="EBECEF"/>
                </a:solidFill>
                <a:latin typeface="Epilogue"/>
                <a:ea typeface="Epilogue"/>
                <a:cs typeface="Epilogue"/>
                <a:sym typeface="Epilogue"/>
              </a:rPr>
              <a:t>patrones de ataque persistentes (APT)</a:t>
            </a:r>
            <a:r>
              <a:rPr b="0" i="0" lang="en-US" sz="1050" u="none" cap="none" strike="noStrike">
                <a:solidFill>
                  <a:srgbClr val="EBECEF"/>
                </a:solidFill>
                <a:latin typeface="Epilogue"/>
                <a:ea typeface="Epilogue"/>
                <a:cs typeface="Epilogue"/>
                <a:sym typeface="Epilogue"/>
              </a:rPr>
              <a:t>.</a:t>
            </a:r>
            <a:endParaRPr b="0" i="0" sz="105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1"/>
          <p:cNvSpPr/>
          <p:nvPr/>
        </p:nvSpPr>
        <p:spPr>
          <a:xfrm>
            <a:off x="457349" y="362620"/>
            <a:ext cx="780901" cy="239018"/>
          </a:xfrm>
          <a:prstGeom prst="roundRect">
            <a:avLst>
              <a:gd fmla="val 18372" name="adj"/>
            </a:avLst>
          </a:prstGeom>
          <a:solidFill>
            <a:srgbClr val="181E3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1"/>
          <p:cNvSpPr/>
          <p:nvPr/>
        </p:nvSpPr>
        <p:spPr>
          <a:xfrm>
            <a:off x="535707" y="401762"/>
            <a:ext cx="1081385" cy="160734"/>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EBECEF"/>
              </a:buClr>
              <a:buSzPts val="800"/>
              <a:buFont typeface="Epilogue"/>
              <a:buNone/>
            </a:pPr>
            <a:r>
              <a:rPr b="0" i="0" lang="en-US" sz="800" u="none" cap="none" strike="noStrike">
                <a:solidFill>
                  <a:srgbClr val="EBECEF"/>
                </a:solidFill>
                <a:latin typeface="Epilogue"/>
                <a:ea typeface="Epilogue"/>
                <a:cs typeface="Epilogue"/>
                <a:sym typeface="Epilogue"/>
              </a:rPr>
              <a:t>CONCLUSIÓN</a:t>
            </a:r>
            <a:endParaRPr b="0" i="0" sz="800" u="none" cap="none" strike="noStrike">
              <a:solidFill>
                <a:srgbClr val="000000"/>
              </a:solidFill>
              <a:latin typeface="Arial"/>
              <a:ea typeface="Arial"/>
              <a:cs typeface="Arial"/>
              <a:sym typeface="Arial"/>
            </a:endParaRPr>
          </a:p>
        </p:txBody>
      </p:sp>
      <p:sp>
        <p:nvSpPr>
          <p:cNvPr id="254" name="Google Shape;254;p11"/>
          <p:cNvSpPr/>
          <p:nvPr/>
        </p:nvSpPr>
        <p:spPr>
          <a:xfrm>
            <a:off x="457349" y="649784"/>
            <a:ext cx="8229302" cy="81676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550"/>
              <a:buFont typeface="Fraunces"/>
              <a:buNone/>
            </a:pPr>
            <a:r>
              <a:rPr b="0" i="0" lang="en-US" sz="2550" u="none" cap="none" strike="noStrike">
                <a:solidFill>
                  <a:srgbClr val="FFFFFF"/>
                </a:solidFill>
                <a:latin typeface="Fraunces"/>
                <a:ea typeface="Fraunces"/>
                <a:cs typeface="Fraunces"/>
                <a:sym typeface="Fraunces"/>
              </a:rPr>
              <a:t>Un Modelo Replicable para la Ciberseguridad Turística</a:t>
            </a:r>
            <a:endParaRPr b="0" i="0" sz="2550" u="none" cap="none" strike="noStrike">
              <a:solidFill>
                <a:srgbClr val="000000"/>
              </a:solidFill>
              <a:latin typeface="Arial"/>
              <a:ea typeface="Arial"/>
              <a:cs typeface="Arial"/>
              <a:sym typeface="Arial"/>
            </a:endParaRPr>
          </a:p>
        </p:txBody>
      </p:sp>
      <p:sp>
        <p:nvSpPr>
          <p:cNvPr id="255" name="Google Shape;255;p11"/>
          <p:cNvSpPr/>
          <p:nvPr/>
        </p:nvSpPr>
        <p:spPr>
          <a:xfrm>
            <a:off x="457349" y="1767706"/>
            <a:ext cx="2090812" cy="20411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250"/>
              <a:buFont typeface="Fraunces"/>
              <a:buNone/>
            </a:pPr>
            <a:r>
              <a:rPr b="0" i="0" lang="en-US" sz="1250" u="none" cap="none" strike="noStrike">
                <a:solidFill>
                  <a:srgbClr val="FFFFFF"/>
                </a:solidFill>
                <a:latin typeface="Fraunces"/>
                <a:ea typeface="Fraunces"/>
                <a:cs typeface="Fraunces"/>
                <a:sym typeface="Fraunces"/>
              </a:rPr>
              <a:t>Valor del Proyecto</a:t>
            </a:r>
            <a:endParaRPr b="0" i="0" sz="1250" u="none" cap="none" strike="noStrike">
              <a:solidFill>
                <a:srgbClr val="000000"/>
              </a:solidFill>
              <a:latin typeface="Arial"/>
              <a:ea typeface="Arial"/>
              <a:cs typeface="Arial"/>
              <a:sym typeface="Arial"/>
            </a:endParaRPr>
          </a:p>
        </p:txBody>
      </p:sp>
      <p:sp>
        <p:nvSpPr>
          <p:cNvPr id="256" name="Google Shape;256;p11"/>
          <p:cNvSpPr/>
          <p:nvPr/>
        </p:nvSpPr>
        <p:spPr>
          <a:xfrm>
            <a:off x="457349" y="2092300"/>
            <a:ext cx="3955256" cy="60253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EBECEF"/>
              </a:buClr>
              <a:buSzPts val="1000"/>
              <a:buFont typeface="Epilogue"/>
              <a:buNone/>
            </a:pPr>
            <a:r>
              <a:rPr b="0" i="0" lang="en-US" sz="1000" u="none" cap="none" strike="noStrike">
                <a:solidFill>
                  <a:srgbClr val="EBECEF"/>
                </a:solidFill>
                <a:latin typeface="Epilogue"/>
                <a:ea typeface="Epilogue"/>
                <a:cs typeface="Epilogue"/>
                <a:sym typeface="Epilogue"/>
              </a:rPr>
              <a:t>Este proyecto demuestra que una PYME turística puede implementar </a:t>
            </a:r>
            <a:r>
              <a:rPr b="1" i="0" lang="en-US" sz="1000" u="none" cap="none" strike="noStrike">
                <a:solidFill>
                  <a:srgbClr val="EBECEF"/>
                </a:solidFill>
                <a:latin typeface="Epilogue"/>
                <a:ea typeface="Epilogue"/>
                <a:cs typeface="Epilogue"/>
                <a:sym typeface="Epilogue"/>
              </a:rPr>
              <a:t>inteligencia de ciberamenazas de nivel empresarial</a:t>
            </a:r>
            <a:r>
              <a:rPr b="0" i="0" lang="en-US" sz="1000" u="none" cap="none" strike="noStrike">
                <a:solidFill>
                  <a:srgbClr val="EBECEF"/>
                </a:solidFill>
                <a:latin typeface="Epilogue"/>
                <a:ea typeface="Epilogue"/>
                <a:cs typeface="Epilogue"/>
                <a:sym typeface="Epilogue"/>
              </a:rPr>
              <a:t> con recursos cloud asequibles y software libre.</a:t>
            </a:r>
            <a:endParaRPr b="0" i="0" sz="1000" u="none" cap="none" strike="noStrike">
              <a:solidFill>
                <a:srgbClr val="000000"/>
              </a:solidFill>
              <a:latin typeface="Arial"/>
              <a:ea typeface="Arial"/>
              <a:cs typeface="Arial"/>
              <a:sym typeface="Arial"/>
            </a:endParaRPr>
          </a:p>
        </p:txBody>
      </p:sp>
      <p:sp>
        <p:nvSpPr>
          <p:cNvPr id="257" name="Google Shape;257;p11"/>
          <p:cNvSpPr/>
          <p:nvPr/>
        </p:nvSpPr>
        <p:spPr>
          <a:xfrm>
            <a:off x="4642098" y="1647230"/>
            <a:ext cx="4143375" cy="2030164"/>
          </a:xfrm>
          <a:prstGeom prst="roundRect">
            <a:avLst>
              <a:gd fmla="val 4635" name="adj"/>
            </a:avLst>
          </a:prstGeom>
          <a:solidFill>
            <a:srgbClr val="8C98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1"/>
          <p:cNvSpPr/>
          <p:nvPr/>
        </p:nvSpPr>
        <p:spPr>
          <a:xfrm>
            <a:off x="4772769" y="1767706"/>
            <a:ext cx="2090812" cy="20411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50"/>
              <a:buFont typeface="Fraunces Medium"/>
              <a:buNone/>
            </a:pPr>
            <a:r>
              <a:rPr b="0" i="0" lang="en-US" sz="1250" u="none" cap="none" strike="noStrike">
                <a:solidFill>
                  <a:srgbClr val="000000"/>
                </a:solidFill>
                <a:latin typeface="Fraunces Medium"/>
                <a:ea typeface="Fraunces Medium"/>
                <a:cs typeface="Fraunces Medium"/>
                <a:sym typeface="Fraunces Medium"/>
              </a:rPr>
              <a:t>Próximos Pasos</a:t>
            </a:r>
            <a:endParaRPr b="0" i="0" sz="1250" u="none" cap="none" strike="noStrike">
              <a:solidFill>
                <a:srgbClr val="000000"/>
              </a:solidFill>
              <a:latin typeface="Arial"/>
              <a:ea typeface="Arial"/>
              <a:cs typeface="Arial"/>
              <a:sym typeface="Arial"/>
            </a:endParaRPr>
          </a:p>
        </p:txBody>
      </p:sp>
      <p:sp>
        <p:nvSpPr>
          <p:cNvPr id="259" name="Google Shape;259;p11"/>
          <p:cNvSpPr/>
          <p:nvPr/>
        </p:nvSpPr>
        <p:spPr>
          <a:xfrm>
            <a:off x="4772769" y="2092300"/>
            <a:ext cx="3882033" cy="929729"/>
          </a:xfrm>
          <a:prstGeom prst="rect">
            <a:avLst/>
          </a:prstGeom>
          <a:noFill/>
          <a:ln>
            <a:noFill/>
          </a:ln>
        </p:spPr>
        <p:txBody>
          <a:bodyPr anchorCtr="0" anchor="t" bIns="0" lIns="0" spcFirstLastPara="1" rIns="0" wrap="square" tIns="0">
            <a:noAutofit/>
          </a:bodyPr>
          <a:lstStyle/>
          <a:p>
            <a:pPr indent="-342900" lvl="0" marL="342900" marR="0" rtl="0" algn="l">
              <a:lnSpc>
                <a:spcPct val="128000"/>
              </a:lnSpc>
              <a:spcBef>
                <a:spcPts val="0"/>
              </a:spcBef>
              <a:spcAft>
                <a:spcPts val="0"/>
              </a:spcAft>
              <a:buClr>
                <a:srgbClr val="000000"/>
              </a:buClr>
              <a:buSzPts val="1000"/>
              <a:buFont typeface="Epilogue"/>
              <a:buChar char="•"/>
            </a:pPr>
            <a:r>
              <a:rPr b="0" i="0" lang="en-US" sz="1000" u="none" cap="none" strike="noStrike">
                <a:solidFill>
                  <a:srgbClr val="000000"/>
                </a:solidFill>
                <a:latin typeface="Epilogue"/>
                <a:ea typeface="Epilogue"/>
                <a:cs typeface="Epilogue"/>
                <a:sym typeface="Epilogue"/>
              </a:rPr>
              <a:t>Integración con SIEM corporativo (Wazuh)</a:t>
            </a:r>
            <a:endParaRPr b="0" i="0" sz="1000" u="none" cap="none" strike="noStrike">
              <a:solidFill>
                <a:srgbClr val="000000"/>
              </a:solidFill>
              <a:latin typeface="Arial"/>
              <a:ea typeface="Arial"/>
              <a:cs typeface="Arial"/>
              <a:sym typeface="Arial"/>
            </a:endParaRPr>
          </a:p>
          <a:p>
            <a:pPr indent="-342900" lvl="0" marL="342900" marR="0" rtl="0" algn="l">
              <a:lnSpc>
                <a:spcPct val="128000"/>
              </a:lnSpc>
              <a:spcBef>
                <a:spcPts val="0"/>
              </a:spcBef>
              <a:spcAft>
                <a:spcPts val="0"/>
              </a:spcAft>
              <a:buClr>
                <a:srgbClr val="000000"/>
              </a:buClr>
              <a:buSzPts val="1000"/>
              <a:buFont typeface="Epilogue"/>
              <a:buChar char="•"/>
            </a:pPr>
            <a:r>
              <a:rPr b="0" i="0" lang="en-US" sz="1000" u="none" cap="none" strike="noStrike">
                <a:solidFill>
                  <a:srgbClr val="000000"/>
                </a:solidFill>
                <a:latin typeface="Epilogue"/>
                <a:ea typeface="Epilogue"/>
                <a:cs typeface="Epilogue"/>
                <a:sym typeface="Epilogue"/>
              </a:rPr>
              <a:t>Automatización de bloqueo vía API del firewall</a:t>
            </a:r>
            <a:endParaRPr b="0" i="0" sz="1000" u="none" cap="none" strike="noStrike">
              <a:solidFill>
                <a:srgbClr val="000000"/>
              </a:solidFill>
              <a:latin typeface="Arial"/>
              <a:ea typeface="Arial"/>
              <a:cs typeface="Arial"/>
              <a:sym typeface="Arial"/>
            </a:endParaRPr>
          </a:p>
          <a:p>
            <a:pPr indent="-342900" lvl="0" marL="342900" marR="0" rtl="0" algn="l">
              <a:lnSpc>
                <a:spcPct val="128000"/>
              </a:lnSpc>
              <a:spcBef>
                <a:spcPts val="0"/>
              </a:spcBef>
              <a:spcAft>
                <a:spcPts val="0"/>
              </a:spcAft>
              <a:buClr>
                <a:srgbClr val="000000"/>
              </a:buClr>
              <a:buSzPts val="1000"/>
              <a:buFont typeface="Epilogue"/>
              <a:buChar char="•"/>
            </a:pPr>
            <a:r>
              <a:rPr b="0" i="0" lang="en-US" sz="1000" u="none" cap="none" strike="noStrike">
                <a:solidFill>
                  <a:srgbClr val="000000"/>
                </a:solidFill>
                <a:latin typeface="Epilogue"/>
                <a:ea typeface="Epilogue"/>
                <a:cs typeface="Epilogue"/>
                <a:sym typeface="Epilogue"/>
              </a:rPr>
              <a:t>Publicación de IOCs en plataformas MISP/OTX</a:t>
            </a:r>
            <a:endParaRPr b="0" i="0" sz="1000" u="none" cap="none" strike="noStrike">
              <a:solidFill>
                <a:srgbClr val="000000"/>
              </a:solidFill>
              <a:latin typeface="Arial"/>
              <a:ea typeface="Arial"/>
              <a:cs typeface="Arial"/>
              <a:sym typeface="Arial"/>
            </a:endParaRPr>
          </a:p>
        </p:txBody>
      </p:sp>
      <p:sp>
        <p:nvSpPr>
          <p:cNvPr id="260" name="Google Shape;260;p11"/>
          <p:cNvSpPr/>
          <p:nvPr/>
        </p:nvSpPr>
        <p:spPr>
          <a:xfrm>
            <a:off x="4772769" y="3190205"/>
            <a:ext cx="3882033" cy="9748"/>
          </a:xfrm>
          <a:prstGeom prst="rect">
            <a:avLst/>
          </a:prstGeom>
          <a:solidFill>
            <a:srgbClr val="000000">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1"/>
          <p:cNvSpPr/>
          <p:nvPr/>
        </p:nvSpPr>
        <p:spPr>
          <a:xfrm>
            <a:off x="4772769" y="3368129"/>
            <a:ext cx="4339233" cy="200844"/>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262" name="Google Shape;262;p11"/>
          <p:cNvSpPr/>
          <p:nvPr/>
        </p:nvSpPr>
        <p:spPr>
          <a:xfrm>
            <a:off x="457349" y="3812902"/>
            <a:ext cx="2662758" cy="967978"/>
          </a:xfrm>
          <a:prstGeom prst="roundRect">
            <a:avLst>
              <a:gd fmla="val 5671" name="adj"/>
            </a:avLst>
          </a:prstGeom>
          <a:solidFill>
            <a:srgbClr val="080E26"/>
          </a:solidFill>
          <a:ln cap="flat" cmpd="sng" w="1427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1"/>
          <p:cNvSpPr/>
          <p:nvPr/>
        </p:nvSpPr>
        <p:spPr>
          <a:xfrm>
            <a:off x="602307" y="3957861"/>
            <a:ext cx="2090812" cy="20411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250"/>
              <a:buFont typeface="Fraunces"/>
              <a:buNone/>
            </a:pPr>
            <a:r>
              <a:rPr b="0" i="0" lang="en-US" sz="1250" u="none" cap="none" strike="noStrike">
                <a:solidFill>
                  <a:srgbClr val="EBECEF"/>
                </a:solidFill>
                <a:latin typeface="Fraunces"/>
                <a:ea typeface="Fraunces"/>
                <a:cs typeface="Fraunces"/>
                <a:sym typeface="Fraunces"/>
              </a:rPr>
              <a:t>Replicable</a:t>
            </a:r>
            <a:endParaRPr b="0" i="0" sz="1250" u="none" cap="none" strike="noStrike">
              <a:solidFill>
                <a:srgbClr val="000000"/>
              </a:solidFill>
              <a:latin typeface="Arial"/>
              <a:ea typeface="Arial"/>
              <a:cs typeface="Arial"/>
              <a:sym typeface="Arial"/>
            </a:endParaRPr>
          </a:p>
        </p:txBody>
      </p:sp>
      <p:sp>
        <p:nvSpPr>
          <p:cNvPr id="264" name="Google Shape;264;p11"/>
          <p:cNvSpPr/>
          <p:nvPr/>
        </p:nvSpPr>
        <p:spPr>
          <a:xfrm>
            <a:off x="602307" y="4234235"/>
            <a:ext cx="2372841" cy="401687"/>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EBECEF"/>
              </a:buClr>
              <a:buSzPts val="1000"/>
              <a:buFont typeface="Epilogue"/>
              <a:buNone/>
            </a:pPr>
            <a:r>
              <a:rPr b="0" i="0" lang="en-US" sz="1000" u="none" cap="none" strike="noStrike">
                <a:solidFill>
                  <a:srgbClr val="EBECEF"/>
                </a:solidFill>
                <a:latin typeface="Epilogue"/>
                <a:ea typeface="Epilogue"/>
                <a:cs typeface="Epilogue"/>
                <a:sym typeface="Epilogue"/>
              </a:rPr>
              <a:t>Arquitectura Docker + T-Pot portable a cualquier VPS</a:t>
            </a:r>
            <a:endParaRPr b="0" i="0" sz="1000" u="none" cap="none" strike="noStrike">
              <a:solidFill>
                <a:srgbClr val="000000"/>
              </a:solidFill>
              <a:latin typeface="Arial"/>
              <a:ea typeface="Arial"/>
              <a:cs typeface="Arial"/>
              <a:sym typeface="Arial"/>
            </a:endParaRPr>
          </a:p>
        </p:txBody>
      </p:sp>
      <p:sp>
        <p:nvSpPr>
          <p:cNvPr id="265" name="Google Shape;265;p11"/>
          <p:cNvSpPr/>
          <p:nvPr/>
        </p:nvSpPr>
        <p:spPr>
          <a:xfrm>
            <a:off x="3240584" y="3812902"/>
            <a:ext cx="2662758" cy="967978"/>
          </a:xfrm>
          <a:prstGeom prst="roundRect">
            <a:avLst>
              <a:gd fmla="val 5671" name="adj"/>
            </a:avLst>
          </a:prstGeom>
          <a:solidFill>
            <a:srgbClr val="080E26"/>
          </a:solidFill>
          <a:ln cap="flat" cmpd="sng" w="1427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1"/>
          <p:cNvSpPr/>
          <p:nvPr/>
        </p:nvSpPr>
        <p:spPr>
          <a:xfrm>
            <a:off x="3385542" y="3957861"/>
            <a:ext cx="2090812" cy="20411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250"/>
              <a:buFont typeface="Fraunces"/>
              <a:buNone/>
            </a:pPr>
            <a:r>
              <a:rPr b="0" i="0" lang="en-US" sz="1250" u="none" cap="none" strike="noStrike">
                <a:solidFill>
                  <a:srgbClr val="EBECEF"/>
                </a:solidFill>
                <a:latin typeface="Fraunces"/>
                <a:ea typeface="Fraunces"/>
                <a:cs typeface="Fraunces"/>
                <a:sym typeface="Fraunces"/>
              </a:rPr>
              <a:t>Accionable</a:t>
            </a:r>
            <a:endParaRPr b="0" i="0" sz="1250" u="none" cap="none" strike="noStrike">
              <a:solidFill>
                <a:srgbClr val="000000"/>
              </a:solidFill>
              <a:latin typeface="Arial"/>
              <a:ea typeface="Arial"/>
              <a:cs typeface="Arial"/>
              <a:sym typeface="Arial"/>
            </a:endParaRPr>
          </a:p>
        </p:txBody>
      </p:sp>
      <p:sp>
        <p:nvSpPr>
          <p:cNvPr id="267" name="Google Shape;267;p11"/>
          <p:cNvSpPr/>
          <p:nvPr/>
        </p:nvSpPr>
        <p:spPr>
          <a:xfrm>
            <a:off x="3385542" y="4234235"/>
            <a:ext cx="2372841" cy="401687"/>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EBECEF"/>
              </a:buClr>
              <a:buSzPts val="1000"/>
              <a:buFont typeface="Epilogue"/>
              <a:buNone/>
            </a:pPr>
            <a:r>
              <a:rPr b="0" i="0" lang="en-US" sz="1000" u="none" cap="none" strike="noStrike">
                <a:solidFill>
                  <a:srgbClr val="EBECEF"/>
                </a:solidFill>
                <a:latin typeface="Epilogue"/>
                <a:ea typeface="Epilogue"/>
                <a:cs typeface="Epilogue"/>
                <a:sym typeface="Epilogue"/>
              </a:rPr>
              <a:t>IOCs convertidos en reglas de firewall en tiempo real</a:t>
            </a:r>
            <a:endParaRPr b="0" i="0" sz="1000" u="none" cap="none" strike="noStrike">
              <a:solidFill>
                <a:srgbClr val="000000"/>
              </a:solidFill>
              <a:latin typeface="Arial"/>
              <a:ea typeface="Arial"/>
              <a:cs typeface="Arial"/>
              <a:sym typeface="Arial"/>
            </a:endParaRPr>
          </a:p>
        </p:txBody>
      </p:sp>
      <p:sp>
        <p:nvSpPr>
          <p:cNvPr id="268" name="Google Shape;268;p11"/>
          <p:cNvSpPr/>
          <p:nvPr/>
        </p:nvSpPr>
        <p:spPr>
          <a:xfrm>
            <a:off x="6023818" y="3812902"/>
            <a:ext cx="2662758" cy="967978"/>
          </a:xfrm>
          <a:prstGeom prst="roundRect">
            <a:avLst>
              <a:gd fmla="val 5671" name="adj"/>
            </a:avLst>
          </a:prstGeom>
          <a:solidFill>
            <a:srgbClr val="080E26"/>
          </a:solidFill>
          <a:ln cap="flat" cmpd="sng" w="1427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1"/>
          <p:cNvSpPr/>
          <p:nvPr/>
        </p:nvSpPr>
        <p:spPr>
          <a:xfrm>
            <a:off x="6168777" y="3957861"/>
            <a:ext cx="2090812" cy="20411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BECEF"/>
              </a:buClr>
              <a:buSzPts val="1250"/>
              <a:buFont typeface="Fraunces"/>
              <a:buNone/>
            </a:pPr>
            <a:r>
              <a:rPr b="0" i="0" lang="en-US" sz="1250" u="none" cap="none" strike="noStrike">
                <a:solidFill>
                  <a:srgbClr val="EBECEF"/>
                </a:solidFill>
                <a:latin typeface="Fraunces"/>
                <a:ea typeface="Fraunces"/>
                <a:cs typeface="Fraunces"/>
                <a:sym typeface="Fraunces"/>
              </a:rPr>
              <a:t>Escalable</a:t>
            </a:r>
            <a:endParaRPr b="0" i="0" sz="1250" u="none" cap="none" strike="noStrike">
              <a:solidFill>
                <a:srgbClr val="000000"/>
              </a:solidFill>
              <a:latin typeface="Arial"/>
              <a:ea typeface="Arial"/>
              <a:cs typeface="Arial"/>
              <a:sym typeface="Arial"/>
            </a:endParaRPr>
          </a:p>
        </p:txBody>
      </p:sp>
      <p:sp>
        <p:nvSpPr>
          <p:cNvPr id="270" name="Google Shape;270;p11"/>
          <p:cNvSpPr/>
          <p:nvPr/>
        </p:nvSpPr>
        <p:spPr>
          <a:xfrm>
            <a:off x="6168777" y="4234235"/>
            <a:ext cx="2830041" cy="200844"/>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EBECEF"/>
              </a:buClr>
              <a:buSzPts val="1000"/>
              <a:buFont typeface="Epilogue"/>
              <a:buNone/>
            </a:pPr>
            <a:r>
              <a:rPr b="0" i="0" lang="en-US" sz="1000" u="none" cap="none" strike="noStrike">
                <a:solidFill>
                  <a:srgbClr val="EBECEF"/>
                </a:solidFill>
                <a:latin typeface="Epilogue"/>
                <a:ea typeface="Epilogue"/>
                <a:cs typeface="Epilogue"/>
                <a:sym typeface="Epilogue"/>
              </a:rPr>
              <a:t>Adaptable a cadenas hoteleras </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